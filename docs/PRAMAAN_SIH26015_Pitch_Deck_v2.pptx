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4" d="100"/>
          <a:sy n="124" d="100"/>
        </p:scale>
        <p:origin x="2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E1A16"/>
                </a:solidFill>
                <a:latin typeface="Calibri"/>
              </a:defRPr>
            </a:pPr>
            <a:r>
              <a:rPr lang="en-IN" sz="1250" b="0" i="0" u="none" strike="noStrike">
                <a:solidFill>
                  <a:srgbClr val="0E1A16"/>
                </a:solidFill>
                <a:latin typeface="Calibri"/>
              </a:rPr>
              <a:t>One district, one month</a:t>
            </a:r>
          </a:p>
        </c:rich>
      </c:tx>
      <c:overlay val="0"/>
    </c:title>
    <c:autoTitleDeleted val="0"/>
    <c:plotArea>
      <c:layout/>
      <c:barChart>
        <c:barDir val="bar"/>
        <c:grouping val="clustered"/>
        <c:varyColors val="0"/>
        <c:ser>
          <c:idx val="0"/>
          <c:order val="0"/>
          <c:tx>
            <c:strRef>
              <c:f>Sheet1!$B$1</c:f>
              <c:strCache>
                <c:ptCount val="1"/>
                <c:pt idx="0">
                  <c:v>Works</c:v>
                </c:pt>
              </c:strCache>
            </c:strRef>
          </c:tx>
          <c:spPr>
            <a:solidFill>
              <a:srgbClr val="2C5A4B"/>
            </a:solidFill>
            <a:effectLst/>
          </c:spPr>
          <c:invertIfNegative val="0"/>
          <c:dLbls>
            <c:numFmt formatCode="#,##0" sourceLinked="0"/>
            <c:spPr>
              <a:noFill/>
              <a:ln>
                <a:noFill/>
              </a:ln>
              <a:effectLst/>
            </c:spPr>
            <c:txPr>
              <a:bodyPr/>
              <a:lstStyle/>
              <a:p>
                <a:pPr>
                  <a:defRPr sz="1100" b="0" i="0" u="none" strike="noStrike">
                    <a:solidFill>
                      <a:srgbClr val="55665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Works in one district</c:v>
                </c:pt>
                <c:pt idx="1">
                  <c:v>Assessable at 30 m</c:v>
                </c:pt>
                <c:pt idx="2">
                  <c:v>Need a human decision</c:v>
                </c:pt>
                <c:pt idx="3">
                  <c:v>Field visits ordered</c:v>
                </c:pt>
              </c:strCache>
            </c:strRef>
          </c:cat>
          <c:val>
            <c:numRef>
              <c:f>Sheet1!$B$2:$B$5</c:f>
              <c:numCache>
                <c:formatCode>General</c:formatCode>
                <c:ptCount val="4"/>
                <c:pt idx="0">
                  <c:v>1200</c:v>
                </c:pt>
                <c:pt idx="1">
                  <c:v>890</c:v>
                </c:pt>
                <c:pt idx="2">
                  <c:v>400</c:v>
                </c:pt>
                <c:pt idx="3">
                  <c:v>60</c:v>
                </c:pt>
              </c:numCache>
            </c:numRef>
          </c:val>
          <c:extLst>
            <c:ext xmlns:c16="http://schemas.microsoft.com/office/drawing/2014/chart" uri="{C3380CC4-5D6E-409C-BE32-E72D297353CC}">
              <c16:uniqueId val="{00000000-A0AE-2A40-8E26-0CC6835DE11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5665D"/>
                </a:solidFill>
                <a:latin typeface="Calibri"/>
              </a:defRPr>
            </a:pPr>
            <a:endParaRPr lang="en-US"/>
          </a:p>
        </c:txPr>
        <c:crossAx val="2094734552"/>
        <c:crosses val="autoZero"/>
        <c:auto val="1"/>
        <c:lblAlgn val="ctr"/>
        <c:lblOffset val="100"/>
        <c:noMultiLvlLbl val="1"/>
      </c:catAx>
      <c:valAx>
        <c:axId val="2094734552"/>
        <c:scaling>
          <c:orientation val="minMax"/>
          <c:max val="1400"/>
        </c:scaling>
        <c:delete val="0"/>
        <c:axPos val="b"/>
        <c:majorGridlines>
          <c:spPr>
            <a:ln w="12700" cap="flat">
              <a:solidFill>
                <a:srgbClr val="C4D0C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FB3A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590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Pramaan means proof. In Indian philosophy, pramana is literally the theory of how a claim becomes valid knowledge. That is exactly what we built: a system that takes the photograph a field officer sends in, and asks the satellite record whether it is true.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on this slide comes from a government source: PIB for the crore of MGNREGA assets, and the live DoLR WDC-PMKSY national dashboard for the rest. The blue-green-red moderation scheme is taken directly from NRSC's own DRISHTI v2.3 user manual. Do not paraphrase these as estimates - they are published numbers.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aimed squarely at the DoLR mentor. Say it plainly: one arrow. We integrate, we do not displace. Mention the DoLR-NRSC MoU of 18 October 2023, which named SRISHTI 2.0 and DRISHTI 2.0 explicitly and commits NRSC to land-cover change analysis for watersheds. We are building what the department has already written down that it wants.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that lands with technical mentors: the photograph is weighted lowest of the five, because the photograph is the claim's own source. Independent evidence must outrank self-report. Also point at the dissent panel - it is always shown, and a verdict that has no dissent list fails validation and cannot be saved.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we deliberately built one workflow completely rather than ten workflows partially. Judges reward closure. The loop ends in a signed government artefact, not in a dashboard 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separable concerns. The application tier owns identity and jurisdiction. The workers own everything slow, and each is a retryable job with an id you can inspect. The engine owns judgement and has no database handle, no clock and no network call - which is why the same evidence bundle always yields the same verdict, and why a stored lineage record is enough to recompute it under audit years later. Every teal source is free and open today. The dashed node is the only government integration, and it is a driver swap.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diagram a GIS or remote-sensing mentor will interrogate, so know it cold. Walk left to right: claim, five families, weighted aggregate, verdict, dissent, human. Then point at the amber diamond. Most systems in this space would quietly return a confident 'no water detected' for a structure smaller than a pixel. Ours refuses, escalates to a cluster assessment, and says why. That refusal is what makes a negative verdict from the surviving families trustworthy.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mentor asks 'where is the AI?', this is the honest answer: we used the least AI that solves the problem, and we can defend every place we used it. The photo family uses a zero-shot vision-language model with calibrated thresholds and an abstention band, because there is no labelled Indian watershed photograph dataset to train on. The other four families are hydrology, spectral indices and statistics.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invent a number on this slide - it is the fastest way to lose a technical mentor. The A/B adjudication-time test is the single most persuasive measurement available to us in a hackathon, and it costs one afternoon: take twenty claims, show ten to a tester as photo-plus-map only, ten in the full PRAMAAN view, and time them. Run it in week three, not week four.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Mentors have sat through a great many decks that claim world firsts. Honesty is the differentiator here, and it also protects you: you cannot be caught out on a claim you did not make.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ICRISAT figures are real and citable - 636 micro-watersheds, benefit-cost ratio around two, internal rate of return 27.4 per cent. Do not extrapolate them into a rupee savings claim we cannot support. The argument is about attention, not about money saved.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anti-BS slide, and it is the strongest credibility moment in the deck. It converts our biggest apparent weakness - no access to the platform named in the problem statement - into evidence that we did the research and refused to fabricate. If a mentor asks about the 30 m claim in the problem statement, this is the slide to return 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ledger, not on the AI. The last thing you want in the room is the image of a machine that argued against its own conclusion and then handed the decision to a person. If there is time for one more sentence: the system's training data is produced by its own use, by domain experts, for free, forever.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6"/>
        </a:solidFill>
        <a:effectLst/>
      </p:bgPr>
    </p:bg>
    <p:spTree>
      <p:nvGrpSpPr>
        <p:cNvPr id="1" name=""/>
        <p:cNvGrpSpPr/>
        <p:nvPr/>
      </p:nvGrpSpPr>
      <p:grpSpPr>
        <a:xfrm>
          <a:off x="0" y="0"/>
          <a:ext cx="0" cy="0"/>
          <a:chOff x="0" y="0"/>
          <a:chExt cx="0" cy="0"/>
        </a:xfrm>
      </p:grpSpPr>
      <p:sp>
        <p:nvSpPr>
          <p:cNvPr id="2" name="Text 0"/>
          <p:cNvSpPr txBox="1"/>
          <p:nvPr/>
        </p:nvSpPr>
        <p:spPr>
          <a:xfrm>
            <a:off x="566928" y="566928"/>
            <a:ext cx="7315200" cy="274320"/>
          </a:xfrm>
          <a:prstGeom prst="rect">
            <a:avLst/>
          </a:prstGeom>
          <a:noFill/>
          <a:ln/>
        </p:spPr>
        <p:txBody>
          <a:bodyPr wrap="square" lIns="0" tIns="0" rIns="0" bIns="0" rtlCol="0" anchor="ctr"/>
          <a:lstStyle/>
          <a:p>
            <a:pPr marL="0" indent="0">
              <a:buNone/>
            </a:pPr>
            <a:r>
              <a:rPr lang="en-US" sz="1100" b="1" kern="0" spc="220" dirty="0">
                <a:solidFill>
                  <a:srgbClr val="63BECD"/>
                </a:solidFill>
                <a:latin typeface="Calibri" pitchFamily="34" charset="0"/>
                <a:ea typeface="Calibri" pitchFamily="34" charset="-122"/>
                <a:cs typeface="Calibri" pitchFamily="34" charset="-120"/>
              </a:rPr>
              <a:t>Smart India Hackathon 2026   ·   Problem Statement 26015</a:t>
            </a:r>
            <a:endParaRPr lang="en-US" sz="1100" dirty="0"/>
          </a:p>
        </p:txBody>
      </p:sp>
      <p:sp>
        <p:nvSpPr>
          <p:cNvPr id="3" name="Text 1"/>
          <p:cNvSpPr txBox="1"/>
          <p:nvPr/>
        </p:nvSpPr>
        <p:spPr>
          <a:xfrm>
            <a:off x="566928" y="1481328"/>
            <a:ext cx="6766560" cy="1170432"/>
          </a:xfrm>
          <a:prstGeom prst="rect">
            <a:avLst/>
          </a:prstGeom>
          <a:noFill/>
          <a:ln/>
        </p:spPr>
        <p:txBody>
          <a:bodyPr wrap="square" lIns="0" tIns="0" rIns="0" bIns="0" rtlCol="0" anchor="ctr"/>
          <a:lstStyle/>
          <a:p>
            <a:pPr marL="0" indent="0">
              <a:buNone/>
            </a:pPr>
            <a:r>
              <a:rPr lang="en-US" sz="6600" b="1" kern="0" spc="400" dirty="0">
                <a:solidFill>
                  <a:srgbClr val="FFFFFF"/>
                </a:solidFill>
                <a:latin typeface="Cambria" pitchFamily="34" charset="0"/>
                <a:ea typeface="Cambria" pitchFamily="34" charset="-122"/>
                <a:cs typeface="Cambria" pitchFamily="34" charset="-120"/>
              </a:rPr>
              <a:t>PRAMAAN</a:t>
            </a:r>
            <a:endParaRPr lang="en-US" sz="6600" dirty="0"/>
          </a:p>
        </p:txBody>
      </p:sp>
      <p:sp>
        <p:nvSpPr>
          <p:cNvPr id="4" name="Text 2"/>
          <p:cNvSpPr txBox="1"/>
          <p:nvPr/>
        </p:nvSpPr>
        <p:spPr>
          <a:xfrm>
            <a:off x="566928" y="2688336"/>
            <a:ext cx="6766560" cy="365760"/>
          </a:xfrm>
          <a:prstGeom prst="rect">
            <a:avLst/>
          </a:prstGeom>
          <a:noFill/>
          <a:ln/>
        </p:spPr>
        <p:txBody>
          <a:bodyPr wrap="square" lIns="0" tIns="0" rIns="0" bIns="0" rtlCol="0" anchor="ctr"/>
          <a:lstStyle/>
          <a:p>
            <a:pPr marL="0" indent="0">
              <a:buNone/>
            </a:pPr>
            <a:r>
              <a:rPr lang="en-US" sz="1500" dirty="0">
                <a:solidFill>
                  <a:srgbClr val="8FB996"/>
                </a:solidFill>
                <a:latin typeface="Calibri" pitchFamily="34" charset="0"/>
                <a:ea typeface="Calibri" pitchFamily="34" charset="-122"/>
                <a:cs typeface="Calibri" pitchFamily="34" charset="-120"/>
              </a:rPr>
              <a:t>प्रमाण   ·   proof</a:t>
            </a:r>
            <a:endParaRPr lang="en-US" sz="1500" dirty="0"/>
          </a:p>
        </p:txBody>
      </p:sp>
      <p:sp>
        <p:nvSpPr>
          <p:cNvPr id="5" name="Text 3"/>
          <p:cNvSpPr txBox="1"/>
          <p:nvPr/>
        </p:nvSpPr>
        <p:spPr>
          <a:xfrm>
            <a:off x="566928" y="3273552"/>
            <a:ext cx="6766560" cy="1005840"/>
          </a:xfrm>
          <a:prstGeom prst="rect">
            <a:avLst/>
          </a:prstGeom>
          <a:noFill/>
          <a:ln/>
        </p:spPr>
        <p:txBody>
          <a:bodyPr wrap="square" lIns="0" tIns="0" rIns="0" bIns="0" rtlCol="0" anchor="ctr"/>
          <a:lstStyle/>
          <a:p>
            <a:pPr marL="0" indent="0">
              <a:lnSpc>
                <a:spcPts val="3300"/>
              </a:lnSpc>
              <a:buNone/>
            </a:pPr>
            <a:r>
              <a:rPr lang="en-US" sz="2300" dirty="0">
                <a:solidFill>
                  <a:srgbClr val="D7E3DB"/>
                </a:solidFill>
                <a:latin typeface="Cambria" pitchFamily="34" charset="0"/>
                <a:ea typeface="Cambria" pitchFamily="34" charset="-122"/>
                <a:cs typeface="Cambria" pitchFamily="34" charset="-120"/>
              </a:rPr>
              <a:t>Turning geo-tagged watershed photographs</a:t>
            </a:r>
            <a:endParaRPr lang="en-US" sz="2300" dirty="0"/>
          </a:p>
          <a:p>
            <a:pPr marL="0" indent="0">
              <a:lnSpc>
                <a:spcPts val="3300"/>
              </a:lnSpc>
              <a:buNone/>
            </a:pPr>
            <a:r>
              <a:rPr lang="en-US" sz="2300" dirty="0">
                <a:solidFill>
                  <a:srgbClr val="D7E3DB"/>
                </a:solidFill>
                <a:latin typeface="Cambria" pitchFamily="34" charset="0"/>
                <a:ea typeface="Cambria" pitchFamily="34" charset="-122"/>
                <a:cs typeface="Cambria" pitchFamily="34" charset="-120"/>
              </a:rPr>
              <a:t>from paperwork into proof.</a:t>
            </a:r>
            <a:endParaRPr lang="en-US" sz="2300" dirty="0"/>
          </a:p>
        </p:txBody>
      </p:sp>
      <p:sp>
        <p:nvSpPr>
          <p:cNvPr id="6" name="Shape 4"/>
          <p:cNvSpPr/>
          <p:nvPr/>
        </p:nvSpPr>
        <p:spPr>
          <a:xfrm>
            <a:off x="566928" y="4498848"/>
            <a:ext cx="6492240" cy="0"/>
          </a:xfrm>
          <a:prstGeom prst="line">
            <a:avLst/>
          </a:prstGeom>
          <a:noFill/>
          <a:ln w="19050">
            <a:solidFill>
              <a:srgbClr val="2C5A4B"/>
            </a:solidFill>
            <a:prstDash val="solid"/>
          </a:ln>
        </p:spPr>
      </p:sp>
      <p:sp>
        <p:nvSpPr>
          <p:cNvPr id="7" name="Text 5"/>
          <p:cNvSpPr txBox="1"/>
          <p:nvPr/>
        </p:nvSpPr>
        <p:spPr>
          <a:xfrm>
            <a:off x="566928" y="4681728"/>
            <a:ext cx="6766560" cy="731520"/>
          </a:xfrm>
          <a:prstGeom prst="rect">
            <a:avLst/>
          </a:prstGeom>
          <a:noFill/>
          <a:ln/>
        </p:spPr>
        <p:txBody>
          <a:bodyPr wrap="square" lIns="0" tIns="0" rIns="0" bIns="0" rtlCol="0" anchor="ctr"/>
          <a:lstStyle/>
          <a:p>
            <a:pPr marL="0" indent="0">
              <a:lnSpc>
                <a:spcPts val="2000"/>
              </a:lnSpc>
              <a:buNone/>
            </a:pPr>
            <a:r>
              <a:rPr lang="en-US" sz="1250" dirty="0">
                <a:solidFill>
                  <a:srgbClr val="9FB3A9"/>
                </a:solidFill>
                <a:latin typeface="Calibri" pitchFamily="34" charset="0"/>
                <a:ea typeface="Calibri" pitchFamily="34" charset="-122"/>
                <a:cs typeface="Calibri" pitchFamily="34" charset="-120"/>
              </a:rPr>
              <a:t>Ministry of Rural Development  ·  Department of Land Resources</a:t>
            </a:r>
            <a:endParaRPr lang="en-US" sz="1250" dirty="0"/>
          </a:p>
          <a:p>
            <a:pPr marL="0" indent="0">
              <a:lnSpc>
                <a:spcPts val="2000"/>
              </a:lnSpc>
              <a:buNone/>
            </a:pPr>
            <a:r>
              <a:rPr lang="en-US" sz="1250" dirty="0">
                <a:solidFill>
                  <a:srgbClr val="9FB3A9"/>
                </a:solidFill>
                <a:latin typeface="Calibri" pitchFamily="34" charset="0"/>
                <a:ea typeface="Calibri" pitchFamily="34" charset="-122"/>
                <a:cs typeface="Calibri" pitchFamily="34" charset="-120"/>
              </a:rPr>
              <a:t>Category: Software  ·  Theme: Agriculture, FoodTech &amp; Rural Development</a:t>
            </a:r>
            <a:endParaRPr lang="en-US" sz="1250" dirty="0"/>
          </a:p>
        </p:txBody>
      </p:sp>
      <p:sp>
        <p:nvSpPr>
          <p:cNvPr id="8" name="Shape 6"/>
          <p:cNvSpPr/>
          <p:nvPr/>
        </p:nvSpPr>
        <p:spPr>
          <a:xfrm>
            <a:off x="7223760" y="1417320"/>
            <a:ext cx="4407408" cy="3127248"/>
          </a:xfrm>
          <a:prstGeom prst="roundRect">
            <a:avLst>
              <a:gd name="adj" fmla="val 1754"/>
            </a:avLst>
          </a:prstGeom>
          <a:solidFill>
            <a:srgbClr val="16261F"/>
          </a:solidFill>
          <a:ln w="12700">
            <a:solidFill>
              <a:srgbClr val="1E332A"/>
            </a:solidFill>
            <a:prstDash val="solid"/>
          </a:ln>
        </p:spPr>
      </p:sp>
      <p:sp>
        <p:nvSpPr>
          <p:cNvPr id="9" name="Text 7"/>
          <p:cNvSpPr txBox="1"/>
          <p:nvPr/>
        </p:nvSpPr>
        <p:spPr>
          <a:xfrm>
            <a:off x="7498080" y="1645920"/>
            <a:ext cx="1920240" cy="237744"/>
          </a:xfrm>
          <a:prstGeom prst="rect">
            <a:avLst/>
          </a:prstGeom>
          <a:noFill/>
          <a:ln/>
        </p:spPr>
        <p:txBody>
          <a:bodyPr wrap="square" lIns="0" tIns="0" rIns="0" bIns="0" rtlCol="0" anchor="ctr"/>
          <a:lstStyle/>
          <a:p>
            <a:pPr marL="0" indent="0">
              <a:buNone/>
            </a:pPr>
            <a:r>
              <a:rPr lang="en-US" sz="900" b="1" kern="0" spc="140" dirty="0">
                <a:solidFill>
                  <a:srgbClr val="8FB996"/>
                </a:solidFill>
                <a:latin typeface="Calibri" pitchFamily="34" charset="0"/>
                <a:ea typeface="Calibri" pitchFamily="34" charset="-122"/>
                <a:cs typeface="Calibri" pitchFamily="34" charset="-120"/>
              </a:rPr>
              <a:t>FIELD PHOTOGRAPH</a:t>
            </a:r>
            <a:endParaRPr lang="en-US" sz="900" dirty="0"/>
          </a:p>
        </p:txBody>
      </p:sp>
      <p:sp>
        <p:nvSpPr>
          <p:cNvPr id="10" name="Text 8"/>
          <p:cNvSpPr txBox="1"/>
          <p:nvPr/>
        </p:nvSpPr>
        <p:spPr>
          <a:xfrm>
            <a:off x="7498080" y="1920240"/>
            <a:ext cx="1920240" cy="731520"/>
          </a:xfrm>
          <a:prstGeom prst="rect">
            <a:avLst/>
          </a:prstGeom>
          <a:noFill/>
          <a:ln/>
        </p:spPr>
        <p:txBody>
          <a:bodyPr wrap="square" lIns="0" tIns="0" rIns="0" bIns="0" rtlCol="0" anchor="ctr"/>
          <a:lstStyle/>
          <a:p>
            <a:pPr marL="0" indent="0">
              <a:lnSpc>
                <a:spcPts val="1500"/>
              </a:lnSpc>
              <a:buNone/>
            </a:pPr>
            <a:r>
              <a:rPr lang="en-US" sz="1050" dirty="0">
                <a:solidFill>
                  <a:srgbClr val="D7E3DB"/>
                </a:solidFill>
                <a:latin typeface="Calibri" pitchFamily="34" charset="0"/>
                <a:ea typeface="Calibri" pitchFamily="34" charset="-122"/>
                <a:cs typeface="Calibri" pitchFamily="34" charset="-120"/>
              </a:rPr>
              <a:t>“Check dam, completed,</a:t>
            </a:r>
            <a:endParaRPr lang="en-US" sz="1050" dirty="0"/>
          </a:p>
          <a:p>
            <a:pPr marL="0" indent="0">
              <a:lnSpc>
                <a:spcPts val="1500"/>
              </a:lnSpc>
              <a:buNone/>
            </a:pPr>
            <a:r>
              <a:rPr lang="en-US" sz="1050" dirty="0">
                <a:solidFill>
                  <a:srgbClr val="D7E3DB"/>
                </a:solidFill>
                <a:latin typeface="Calibri" pitchFamily="34" charset="0"/>
                <a:ea typeface="Calibri" pitchFamily="34" charset="-122"/>
                <a:cs typeface="Calibri" pitchFamily="34" charset="-120"/>
              </a:rPr>
              <a:t>20-Nov-2023, 19.87°N 77.42°E”</a:t>
            </a:r>
            <a:endParaRPr lang="en-US" sz="1050" dirty="0"/>
          </a:p>
        </p:txBody>
      </p:sp>
      <p:sp>
        <p:nvSpPr>
          <p:cNvPr id="11" name="Text 9"/>
          <p:cNvSpPr txBox="1"/>
          <p:nvPr/>
        </p:nvSpPr>
        <p:spPr>
          <a:xfrm>
            <a:off x="9601200" y="1645920"/>
            <a:ext cx="1920240" cy="237744"/>
          </a:xfrm>
          <a:prstGeom prst="rect">
            <a:avLst/>
          </a:prstGeom>
          <a:noFill/>
          <a:ln/>
        </p:spPr>
        <p:txBody>
          <a:bodyPr wrap="square" lIns="0" tIns="0" rIns="0" bIns="0" rtlCol="0" anchor="ctr"/>
          <a:lstStyle/>
          <a:p>
            <a:pPr marL="0" indent="0">
              <a:buNone/>
            </a:pPr>
            <a:r>
              <a:rPr lang="en-US" sz="900" b="1" kern="0" spc="140" dirty="0">
                <a:solidFill>
                  <a:srgbClr val="63BECD"/>
                </a:solidFill>
                <a:latin typeface="Calibri" pitchFamily="34" charset="0"/>
                <a:ea typeface="Calibri" pitchFamily="34" charset="-122"/>
                <a:cs typeface="Calibri" pitchFamily="34" charset="-120"/>
              </a:rPr>
              <a:t>SATELLITE @ 30 m</a:t>
            </a:r>
            <a:endParaRPr lang="en-US" sz="900" dirty="0"/>
          </a:p>
        </p:txBody>
      </p:sp>
      <p:sp>
        <p:nvSpPr>
          <p:cNvPr id="12" name="Text 10"/>
          <p:cNvSpPr txBox="1"/>
          <p:nvPr/>
        </p:nvSpPr>
        <p:spPr>
          <a:xfrm>
            <a:off x="9601200" y="1920240"/>
            <a:ext cx="1920240" cy="731520"/>
          </a:xfrm>
          <a:prstGeom prst="rect">
            <a:avLst/>
          </a:prstGeom>
          <a:noFill/>
          <a:ln/>
        </p:spPr>
        <p:txBody>
          <a:bodyPr wrap="square" lIns="0" tIns="0" rIns="0" bIns="0" rtlCol="0" anchor="ctr"/>
          <a:lstStyle/>
          <a:p>
            <a:pPr marL="0" indent="0">
              <a:lnSpc>
                <a:spcPts val="1500"/>
              </a:lnSpc>
              <a:buNone/>
            </a:pPr>
            <a:r>
              <a:rPr lang="en-US" sz="1050" dirty="0">
                <a:solidFill>
                  <a:srgbClr val="D7E3DB"/>
                </a:solidFill>
                <a:latin typeface="Calibri" pitchFamily="34" charset="0"/>
                <a:ea typeface="Calibri" pitchFamily="34" charset="-122"/>
                <a:cs typeface="Calibri" pitchFamily="34" charset="-120"/>
              </a:rPr>
              <a:t>MNDWI  −0.08 → +0.31</a:t>
            </a:r>
            <a:endParaRPr lang="en-US" sz="1050" dirty="0"/>
          </a:p>
          <a:p>
            <a:pPr marL="0" indent="0">
              <a:lnSpc>
                <a:spcPts val="1500"/>
              </a:lnSpc>
              <a:buNone/>
            </a:pPr>
            <a:r>
              <a:rPr lang="en-US" sz="1050" dirty="0">
                <a:solidFill>
                  <a:srgbClr val="D7E3DB"/>
                </a:solidFill>
                <a:latin typeface="Calibri" pitchFamily="34" charset="0"/>
                <a:ea typeface="Calibri" pitchFamily="34" charset="-122"/>
                <a:cs typeface="Calibri" pitchFamily="34" charset="-120"/>
              </a:rPr>
              <a:t>Water  4 → 7 months / year</a:t>
            </a:r>
            <a:endParaRPr lang="en-US" sz="1050" dirty="0"/>
          </a:p>
        </p:txBody>
      </p:sp>
      <p:sp>
        <p:nvSpPr>
          <p:cNvPr id="13" name="Shape 11"/>
          <p:cNvSpPr/>
          <p:nvPr/>
        </p:nvSpPr>
        <p:spPr>
          <a:xfrm>
            <a:off x="7498080" y="2761488"/>
            <a:ext cx="3858768" cy="0"/>
          </a:xfrm>
          <a:prstGeom prst="line">
            <a:avLst/>
          </a:prstGeom>
          <a:noFill/>
          <a:ln w="12700">
            <a:solidFill>
              <a:srgbClr val="1E332A"/>
            </a:solidFill>
            <a:prstDash val="solid"/>
          </a:ln>
        </p:spPr>
      </p:sp>
      <p:sp>
        <p:nvSpPr>
          <p:cNvPr id="14" name="Shape 12"/>
          <p:cNvSpPr/>
          <p:nvPr/>
        </p:nvSpPr>
        <p:spPr>
          <a:xfrm>
            <a:off x="7498080" y="2907792"/>
            <a:ext cx="3858768" cy="365760"/>
          </a:xfrm>
          <a:prstGeom prst="roundRect">
            <a:avLst>
              <a:gd name="adj" fmla="val 50000"/>
            </a:avLst>
          </a:prstGeom>
          <a:solidFill>
            <a:srgbClr val="9E5C13"/>
          </a:solidFill>
          <a:ln w="12700">
            <a:solidFill>
              <a:srgbClr val="9E5C13"/>
            </a:solidFill>
            <a:prstDash val="solid"/>
          </a:ln>
        </p:spPr>
      </p:sp>
      <p:sp>
        <p:nvSpPr>
          <p:cNvPr id="15" name="Text 13"/>
          <p:cNvSpPr txBox="1"/>
          <p:nvPr/>
        </p:nvSpPr>
        <p:spPr>
          <a:xfrm>
            <a:off x="7498080" y="2907792"/>
            <a:ext cx="3858768" cy="365760"/>
          </a:xfrm>
          <a:prstGeom prst="rect">
            <a:avLst/>
          </a:prstGeom>
          <a:noFill/>
          <a:ln/>
        </p:spPr>
        <p:txBody>
          <a:bodyPr wrap="square" lIns="0" tIns="0" rIns="0" bIns="0" rtlCol="0" anchor="ctr"/>
          <a:lstStyle/>
          <a:p>
            <a:pPr marL="0" indent="0" algn="ctr">
              <a:buNone/>
            </a:pPr>
            <a:r>
              <a:rPr lang="en-US" sz="1150" b="1" kern="0" spc="60" dirty="0">
                <a:solidFill>
                  <a:srgbClr val="FFFFFF"/>
                </a:solidFill>
                <a:latin typeface="Calibri" pitchFamily="34" charset="0"/>
                <a:ea typeface="Calibri" pitchFamily="34" charset="-122"/>
                <a:cs typeface="Calibri" pitchFamily="34" charset="-120"/>
              </a:rPr>
              <a:t>RECONCILE</a:t>
            </a:r>
            <a:endParaRPr lang="en-US" sz="1150" dirty="0"/>
          </a:p>
        </p:txBody>
      </p:sp>
      <p:sp>
        <p:nvSpPr>
          <p:cNvPr id="16" name="Text 14"/>
          <p:cNvSpPr txBox="1"/>
          <p:nvPr/>
        </p:nvSpPr>
        <p:spPr>
          <a:xfrm>
            <a:off x="7498080" y="3401568"/>
            <a:ext cx="3858768" cy="274320"/>
          </a:xfrm>
          <a:prstGeom prst="rect">
            <a:avLst/>
          </a:prstGeom>
          <a:noFill/>
          <a:ln/>
        </p:spPr>
        <p:txBody>
          <a:bodyPr wrap="square" lIns="0" tIns="0" rIns="0" bIns="0" rtlCol="0" anchor="ctr"/>
          <a:lstStyle/>
          <a:p>
            <a:pPr marL="0" indent="0" algn="ctr">
              <a:buNone/>
            </a:pPr>
            <a:r>
              <a:rPr lang="en-US" sz="1000" b="1" dirty="0">
                <a:solidFill>
                  <a:srgbClr val="8FB996"/>
                </a:solidFill>
                <a:latin typeface="Calibri" pitchFamily="34" charset="0"/>
                <a:ea typeface="Calibri" pitchFamily="34" charset="-122"/>
                <a:cs typeface="Calibri" pitchFamily="34" charset="-120"/>
              </a:rPr>
              <a:t>CORROBORATED · L4 control-differenced · confidence 0.84</a:t>
            </a:r>
            <a:endParaRPr lang="en-US" sz="1000" dirty="0"/>
          </a:p>
        </p:txBody>
      </p:sp>
      <p:sp>
        <p:nvSpPr>
          <p:cNvPr id="17" name="Text 15"/>
          <p:cNvSpPr txBox="1"/>
          <p:nvPr/>
        </p:nvSpPr>
        <p:spPr>
          <a:xfrm>
            <a:off x="7498080" y="3712464"/>
            <a:ext cx="3858768" cy="548640"/>
          </a:xfrm>
          <a:prstGeom prst="rect">
            <a:avLst/>
          </a:prstGeom>
          <a:noFill/>
          <a:ln/>
        </p:spPr>
        <p:txBody>
          <a:bodyPr wrap="square" lIns="0" tIns="0" rIns="0" bIns="0" rtlCol="0" anchor="ctr"/>
          <a:lstStyle/>
          <a:p>
            <a:pPr marL="0" indent="0" algn="ctr">
              <a:buNone/>
            </a:pPr>
            <a:r>
              <a:rPr lang="en-US" sz="1100" i="1" dirty="0">
                <a:solidFill>
                  <a:srgbClr val="9FB3A9"/>
                </a:solidFill>
                <a:latin typeface="Calibri" pitchFamily="34" charset="0"/>
                <a:ea typeface="Calibri" pitchFamily="34" charset="-122"/>
                <a:cs typeface="Calibri" pitchFamily="34" charset="-120"/>
              </a:rPr>
              <a:t>…and the evidence against it, shown alongside.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16"/>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63BECD"/>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6E8E7B"/>
                </a:solidFill>
                <a:latin typeface="Calibri" pitchFamily="34" charset="0"/>
                <a:ea typeface="Calibri" pitchFamily="34" charset="-122"/>
                <a:cs typeface="Calibri" pitchFamily="34" charset="-120"/>
              </a:rPr>
              <a:t>02</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658"/>
              </a:lnSpc>
              <a:buNone/>
            </a:pPr>
            <a:r>
              <a:rPr lang="en-US" sz="3100" b="1" dirty="0">
                <a:solidFill>
                  <a:srgbClr val="FFFFFF"/>
                </a:solidFill>
                <a:latin typeface="Cambria" pitchFamily="34" charset="0"/>
                <a:ea typeface="Cambria" pitchFamily="34" charset="-122"/>
                <a:cs typeface="Cambria" pitchFamily="34" charset="-120"/>
              </a:rPr>
              <a:t>India solved collection. It has not solved interpretation.</a:t>
            </a:r>
            <a:endParaRPr lang="en-US" sz="3100" dirty="0"/>
          </a:p>
        </p:txBody>
      </p:sp>
      <p:sp>
        <p:nvSpPr>
          <p:cNvPr id="5" name="Text 3"/>
          <p:cNvSpPr txBox="1"/>
          <p:nvPr/>
        </p:nvSpPr>
        <p:spPr>
          <a:xfrm>
            <a:off x="566928" y="1664208"/>
            <a:ext cx="3520440" cy="749808"/>
          </a:xfrm>
          <a:prstGeom prst="rect">
            <a:avLst/>
          </a:prstGeom>
          <a:noFill/>
          <a:ln/>
        </p:spPr>
        <p:txBody>
          <a:bodyPr wrap="square" lIns="0" tIns="0" rIns="0" bIns="0" rtlCol="0" anchor="b"/>
          <a:lstStyle/>
          <a:p>
            <a:pPr marL="0" indent="0">
              <a:buNone/>
            </a:pPr>
            <a:r>
              <a:rPr lang="en-US" sz="4000" b="1" dirty="0">
                <a:solidFill>
                  <a:srgbClr val="8FB996"/>
                </a:solidFill>
                <a:latin typeface="Cambria" pitchFamily="34" charset="0"/>
                <a:ea typeface="Cambria" pitchFamily="34" charset="-122"/>
                <a:cs typeface="Cambria" pitchFamily="34" charset="-120"/>
              </a:rPr>
              <a:t>1 crore+</a:t>
            </a:r>
            <a:endParaRPr lang="en-US" sz="4000" dirty="0"/>
          </a:p>
        </p:txBody>
      </p:sp>
      <p:sp>
        <p:nvSpPr>
          <p:cNvPr id="6" name="Text 4"/>
          <p:cNvSpPr txBox="1"/>
          <p:nvPr/>
        </p:nvSpPr>
        <p:spPr>
          <a:xfrm>
            <a:off x="566928" y="2468880"/>
            <a:ext cx="3520440" cy="640080"/>
          </a:xfrm>
          <a:prstGeom prst="rect">
            <a:avLst/>
          </a:prstGeom>
          <a:noFill/>
          <a:ln/>
        </p:spPr>
        <p:txBody>
          <a:bodyPr wrap="square" lIns="0" tIns="0" rIns="0" bIns="0" rtlCol="0" anchor="ctr"/>
          <a:lstStyle/>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MGNREGA assets geo-tagged</a:t>
            </a:r>
            <a:endParaRPr lang="en-US" sz="1150" dirty="0"/>
          </a:p>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PIB, 2018</a:t>
            </a:r>
            <a:endParaRPr lang="en-US" sz="1150" dirty="0"/>
          </a:p>
        </p:txBody>
      </p:sp>
      <p:sp>
        <p:nvSpPr>
          <p:cNvPr id="7" name="Text 5"/>
          <p:cNvSpPr txBox="1"/>
          <p:nvPr/>
        </p:nvSpPr>
        <p:spPr>
          <a:xfrm>
            <a:off x="4334256" y="1664208"/>
            <a:ext cx="3520440" cy="749808"/>
          </a:xfrm>
          <a:prstGeom prst="rect">
            <a:avLst/>
          </a:prstGeom>
          <a:noFill/>
          <a:ln/>
        </p:spPr>
        <p:txBody>
          <a:bodyPr wrap="square" lIns="0" tIns="0" rIns="0" bIns="0" rtlCol="0" anchor="b"/>
          <a:lstStyle/>
          <a:p>
            <a:pPr marL="0" indent="0">
              <a:buNone/>
            </a:pPr>
            <a:r>
              <a:rPr lang="en-US" sz="4000" b="1" dirty="0">
                <a:solidFill>
                  <a:srgbClr val="63BECD"/>
                </a:solidFill>
                <a:latin typeface="Cambria" pitchFamily="34" charset="0"/>
                <a:ea typeface="Cambria" pitchFamily="34" charset="-122"/>
                <a:cs typeface="Cambria" pitchFamily="34" charset="-120"/>
              </a:rPr>
              <a:t>1,24,830</a:t>
            </a:r>
            <a:endParaRPr lang="en-US" sz="4000" dirty="0"/>
          </a:p>
        </p:txBody>
      </p:sp>
      <p:sp>
        <p:nvSpPr>
          <p:cNvPr id="8" name="Text 6"/>
          <p:cNvSpPr txBox="1"/>
          <p:nvPr/>
        </p:nvSpPr>
        <p:spPr>
          <a:xfrm>
            <a:off x="4334256" y="2468880"/>
            <a:ext cx="3520440" cy="640080"/>
          </a:xfrm>
          <a:prstGeom prst="rect">
            <a:avLst/>
          </a:prstGeom>
          <a:noFill/>
          <a:ln/>
        </p:spPr>
        <p:txBody>
          <a:bodyPr wrap="square" lIns="0" tIns="0" rIns="0" bIns="0" rtlCol="0" anchor="ctr"/>
          <a:lstStyle/>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water harvesting structures created</a:t>
            </a:r>
            <a:endParaRPr lang="en-US" sz="1150" dirty="0"/>
          </a:p>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or rejuvenated under WDC-PMKSY 2.0</a:t>
            </a:r>
            <a:endParaRPr lang="en-US" sz="1150" dirty="0"/>
          </a:p>
        </p:txBody>
      </p:sp>
      <p:sp>
        <p:nvSpPr>
          <p:cNvPr id="9" name="Text 7"/>
          <p:cNvSpPr txBox="1"/>
          <p:nvPr/>
        </p:nvSpPr>
        <p:spPr>
          <a:xfrm>
            <a:off x="8101584" y="1664208"/>
            <a:ext cx="3520440" cy="749808"/>
          </a:xfrm>
          <a:prstGeom prst="rect">
            <a:avLst/>
          </a:prstGeom>
          <a:noFill/>
          <a:ln/>
        </p:spPr>
        <p:txBody>
          <a:bodyPr wrap="square" lIns="0" tIns="0" rIns="0" bIns="0" rtlCol="0" anchor="b"/>
          <a:lstStyle/>
          <a:p>
            <a:pPr marL="0" indent="0">
              <a:buNone/>
            </a:pPr>
            <a:r>
              <a:rPr lang="en-US" sz="4000" b="1" dirty="0">
                <a:solidFill>
                  <a:srgbClr val="E2A458"/>
                </a:solidFill>
                <a:latin typeface="Cambria" pitchFamily="34" charset="0"/>
                <a:ea typeface="Cambria" pitchFamily="34" charset="-122"/>
                <a:cs typeface="Cambria" pitchFamily="34" charset="-120"/>
              </a:rPr>
              <a:t>₹8,134 cr</a:t>
            </a:r>
            <a:endParaRPr lang="en-US" sz="4000" dirty="0"/>
          </a:p>
        </p:txBody>
      </p:sp>
      <p:sp>
        <p:nvSpPr>
          <p:cNvPr id="10" name="Text 8"/>
          <p:cNvSpPr txBox="1"/>
          <p:nvPr/>
        </p:nvSpPr>
        <p:spPr>
          <a:xfrm>
            <a:off x="8101584" y="2468880"/>
            <a:ext cx="3520440" cy="640080"/>
          </a:xfrm>
          <a:prstGeom prst="rect">
            <a:avLst/>
          </a:prstGeom>
          <a:noFill/>
          <a:ln/>
        </p:spPr>
        <p:txBody>
          <a:bodyPr wrap="square" lIns="0" tIns="0" rIns="0" bIns="0" rtlCol="0" anchor="ctr"/>
          <a:lstStyle/>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central outlay · 49.5 lakh ha target</a:t>
            </a:r>
            <a:endParaRPr lang="en-US" sz="1150" dirty="0"/>
          </a:p>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2021–2026</a:t>
            </a:r>
            <a:endParaRPr lang="en-US" sz="1150" dirty="0"/>
          </a:p>
        </p:txBody>
      </p:sp>
      <p:sp>
        <p:nvSpPr>
          <p:cNvPr id="11" name="Shape 9"/>
          <p:cNvSpPr/>
          <p:nvPr/>
        </p:nvSpPr>
        <p:spPr>
          <a:xfrm>
            <a:off x="566928" y="3310128"/>
            <a:ext cx="11057839" cy="0"/>
          </a:xfrm>
          <a:prstGeom prst="line">
            <a:avLst/>
          </a:prstGeom>
          <a:noFill/>
          <a:ln w="12700">
            <a:solidFill>
              <a:srgbClr val="1E332A"/>
            </a:solidFill>
            <a:prstDash val="solid"/>
          </a:ln>
        </p:spPr>
      </p:sp>
      <p:sp>
        <p:nvSpPr>
          <p:cNvPr id="12" name="Shape 10"/>
          <p:cNvSpPr/>
          <p:nvPr/>
        </p:nvSpPr>
        <p:spPr>
          <a:xfrm>
            <a:off x="566928" y="3566160"/>
            <a:ext cx="6675120" cy="2286000"/>
          </a:xfrm>
          <a:prstGeom prst="roundRect">
            <a:avLst>
              <a:gd name="adj" fmla="val 2400"/>
            </a:avLst>
          </a:prstGeom>
          <a:solidFill>
            <a:srgbClr val="16261F"/>
          </a:solidFill>
          <a:ln w="12700">
            <a:solidFill>
              <a:srgbClr val="1E332A"/>
            </a:solidFill>
            <a:prstDash val="solid"/>
          </a:ln>
        </p:spPr>
      </p:sp>
      <p:sp>
        <p:nvSpPr>
          <p:cNvPr id="13" name="Text 11"/>
          <p:cNvSpPr txBox="1"/>
          <p:nvPr/>
        </p:nvSpPr>
        <p:spPr>
          <a:xfrm>
            <a:off x="914400" y="3803904"/>
            <a:ext cx="6035040" cy="38404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Today the photograph is moderated by eye.</a:t>
            </a:r>
            <a:endParaRPr lang="en-US" sz="2100" dirty="0"/>
          </a:p>
        </p:txBody>
      </p:sp>
      <p:sp>
        <p:nvSpPr>
          <p:cNvPr id="14" name="Text 12"/>
          <p:cNvSpPr txBox="1"/>
          <p:nvPr/>
        </p:nvSpPr>
        <p:spPr>
          <a:xfrm>
            <a:off x="914400" y="4279392"/>
            <a:ext cx="5852160" cy="1371600"/>
          </a:xfrm>
          <a:prstGeom prst="rect">
            <a:avLst/>
          </a:prstGeom>
          <a:noFill/>
          <a:ln/>
        </p:spPr>
        <p:txBody>
          <a:bodyPr wrap="square" lIns="0" tIns="0" rIns="0" bIns="0" rtlCol="0" anchor="ctr"/>
          <a:lstStyle/>
          <a:p>
            <a:pPr marL="342900" indent="-342900">
              <a:lnSpc>
                <a:spcPts val="1775"/>
              </a:lnSpc>
              <a:spcAft>
                <a:spcPts val="600"/>
              </a:spcAft>
              <a:buSzPct val="100000"/>
              <a:buChar char="•"/>
            </a:pPr>
            <a:r>
              <a:rPr lang="en-US" sz="1250" dirty="0">
                <a:solidFill>
                  <a:srgbClr val="D7E3DB"/>
                </a:solidFill>
                <a:latin typeface="Calibri" pitchFamily="34" charset="0"/>
                <a:ea typeface="Calibri" pitchFamily="34" charset="-122"/>
                <a:cs typeface="Calibri" pitchFamily="34" charset="-120"/>
              </a:rPr>
              <a:t>NRSC’s SRISHTI portal colour-codes each geotag blue → green (accepted) or red (rejected)</a:t>
            </a:r>
            <a:endParaRPr lang="en-US" sz="1250" dirty="0"/>
          </a:p>
          <a:p>
            <a:pPr marL="342900" indent="-342900">
              <a:lnSpc>
                <a:spcPts val="1775"/>
              </a:lnSpc>
              <a:spcAft>
                <a:spcPts val="600"/>
              </a:spcAft>
              <a:buSzPct val="100000"/>
              <a:buChar char="•"/>
            </a:pPr>
            <a:r>
              <a:rPr lang="en-US" sz="1250" dirty="0">
                <a:solidFill>
                  <a:srgbClr val="D7E3DB"/>
                </a:solidFill>
                <a:latin typeface="Calibri" pitchFamily="34" charset="0"/>
                <a:ea typeface="Calibri" pitchFamily="34" charset="-122"/>
                <a:cs typeface="Calibri" pitchFamily="34" charset="-120"/>
              </a:rPr>
              <a:t>An officer opens one photograph and clicks one of two buttons</a:t>
            </a:r>
            <a:endParaRPr lang="en-US" sz="1250" dirty="0"/>
          </a:p>
          <a:p>
            <a:pPr marL="342900" indent="-342900">
              <a:lnSpc>
                <a:spcPts val="1775"/>
              </a:lnSpc>
              <a:spcAft>
                <a:spcPts val="600"/>
              </a:spcAft>
              <a:buSzPct val="100000"/>
              <a:buChar char="•"/>
            </a:pPr>
            <a:r>
              <a:rPr lang="en-US" sz="1250" dirty="0">
                <a:solidFill>
                  <a:srgbClr val="D7E3DB"/>
                </a:solidFill>
                <a:latin typeface="Calibri" pitchFamily="34" charset="0"/>
                <a:ea typeface="Calibri" pitchFamily="34" charset="-122"/>
                <a:cs typeface="Calibri" pitchFamily="34" charset="-120"/>
              </a:rPr>
              <a:t>That verifies a photograph exists. It does not verify that the structure works.</a:t>
            </a:r>
            <a:endParaRPr lang="en-US" sz="1250" dirty="0"/>
          </a:p>
        </p:txBody>
      </p:sp>
      <p:sp>
        <p:nvSpPr>
          <p:cNvPr id="15" name="Shape 13"/>
          <p:cNvSpPr/>
          <p:nvPr/>
        </p:nvSpPr>
        <p:spPr>
          <a:xfrm>
            <a:off x="7498080" y="3803904"/>
            <a:ext cx="1874520" cy="365760"/>
          </a:xfrm>
          <a:prstGeom prst="roundRect">
            <a:avLst>
              <a:gd name="adj" fmla="val 50000"/>
            </a:avLst>
          </a:prstGeom>
          <a:solidFill>
            <a:srgbClr val="2F7D5F"/>
          </a:solidFill>
          <a:ln w="12700">
            <a:solidFill>
              <a:srgbClr val="2F7D5F"/>
            </a:solidFill>
            <a:prstDash val="solid"/>
          </a:ln>
        </p:spPr>
      </p:sp>
      <p:sp>
        <p:nvSpPr>
          <p:cNvPr id="16" name="Text 14"/>
          <p:cNvSpPr txBox="1"/>
          <p:nvPr/>
        </p:nvSpPr>
        <p:spPr>
          <a:xfrm>
            <a:off x="7498080" y="3803904"/>
            <a:ext cx="18745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ACCEPTED</a:t>
            </a:r>
            <a:endParaRPr lang="en-US" sz="1050" dirty="0"/>
          </a:p>
        </p:txBody>
      </p:sp>
      <p:sp>
        <p:nvSpPr>
          <p:cNvPr id="17" name="Shape 15"/>
          <p:cNvSpPr/>
          <p:nvPr/>
        </p:nvSpPr>
        <p:spPr>
          <a:xfrm>
            <a:off x="9555480" y="3803904"/>
            <a:ext cx="1874520" cy="365760"/>
          </a:xfrm>
          <a:prstGeom prst="roundRect">
            <a:avLst>
              <a:gd name="adj" fmla="val 50000"/>
            </a:avLst>
          </a:prstGeom>
          <a:solidFill>
            <a:srgbClr val="92321F"/>
          </a:solidFill>
          <a:ln w="12700">
            <a:solidFill>
              <a:srgbClr val="92321F"/>
            </a:solidFill>
            <a:prstDash val="solid"/>
          </a:ln>
        </p:spPr>
      </p:sp>
      <p:sp>
        <p:nvSpPr>
          <p:cNvPr id="18" name="Text 16"/>
          <p:cNvSpPr txBox="1"/>
          <p:nvPr/>
        </p:nvSpPr>
        <p:spPr>
          <a:xfrm>
            <a:off x="9555480" y="3803904"/>
            <a:ext cx="18745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REJECTED</a:t>
            </a:r>
            <a:endParaRPr lang="en-US" sz="1050" dirty="0"/>
          </a:p>
        </p:txBody>
      </p:sp>
      <p:sp>
        <p:nvSpPr>
          <p:cNvPr id="19" name="Text 17"/>
          <p:cNvSpPr txBox="1"/>
          <p:nvPr/>
        </p:nvSpPr>
        <p:spPr>
          <a:xfrm>
            <a:off x="7498080" y="4370832"/>
            <a:ext cx="3931920" cy="292608"/>
          </a:xfrm>
          <a:prstGeom prst="rect">
            <a:avLst/>
          </a:prstGeom>
          <a:noFill/>
          <a:ln/>
        </p:spPr>
        <p:txBody>
          <a:bodyPr wrap="square" lIns="0" tIns="0" rIns="0" bIns="0" rtlCol="0" anchor="ctr"/>
          <a:lstStyle/>
          <a:p>
            <a:pPr marL="0" indent="0">
              <a:buNone/>
            </a:pPr>
            <a:r>
              <a:rPr lang="en-US" sz="1600" b="1" dirty="0">
                <a:solidFill>
                  <a:srgbClr val="E2A458"/>
                </a:solidFill>
                <a:latin typeface="Cambria" pitchFamily="34" charset="0"/>
                <a:ea typeface="Cambria" pitchFamily="34" charset="-122"/>
                <a:cs typeface="Cambria" pitchFamily="34" charset="-120"/>
              </a:rPr>
              <a:t>…and nothing in between.</a:t>
            </a:r>
            <a:endParaRPr lang="en-US" sz="1600" dirty="0"/>
          </a:p>
        </p:txBody>
      </p:sp>
      <p:sp>
        <p:nvSpPr>
          <p:cNvPr id="20" name="Text 18"/>
          <p:cNvSpPr txBox="1"/>
          <p:nvPr/>
        </p:nvSpPr>
        <p:spPr>
          <a:xfrm>
            <a:off x="7498080" y="4700016"/>
            <a:ext cx="3931920" cy="1097280"/>
          </a:xfrm>
          <a:prstGeom prst="rect">
            <a:avLst/>
          </a:prstGeom>
          <a:noFill/>
          <a:ln/>
        </p:spPr>
        <p:txBody>
          <a:bodyPr wrap="square" lIns="0" tIns="0" rIns="0" bIns="0" rtlCol="0" anchor="ctr"/>
          <a:lstStyle/>
          <a:p>
            <a:pPr marL="0" indent="0">
              <a:lnSpc>
                <a:spcPts val="1700"/>
              </a:lnSpc>
              <a:buNone/>
            </a:pPr>
            <a:r>
              <a:rPr lang="en-US" sz="1150" dirty="0">
                <a:solidFill>
                  <a:srgbClr val="9FB3A9"/>
                </a:solidFill>
                <a:latin typeface="Calibri" pitchFamily="34" charset="0"/>
                <a:ea typeface="Calibri" pitchFamily="34" charset="-122"/>
                <a:cs typeface="Calibri" pitchFamily="34" charset="-120"/>
              </a:rPr>
              <a:t>No outcome. No confidence. No evidence.</a:t>
            </a:r>
            <a:endParaRPr lang="en-US" sz="1150" dirty="0"/>
          </a:p>
          <a:p>
            <a:pPr marL="0" indent="0">
              <a:lnSpc>
                <a:spcPts val="1700"/>
              </a:lnSpc>
              <a:buNone/>
            </a:pPr>
            <a:r>
              <a:rPr lang="en-US" sz="1150" dirty="0">
                <a:solidFill>
                  <a:srgbClr val="9FB3A9"/>
                </a:solidFill>
                <a:latin typeface="Calibri" pitchFamily="34" charset="0"/>
                <a:ea typeface="Calibri" pitchFamily="34" charset="-122"/>
                <a:cs typeface="Calibri" pitchFamily="34" charset="-120"/>
              </a:rPr>
              <a:t>No trend. No record of why.</a:t>
            </a:r>
            <a:endParaRPr lang="en-US" sz="1150" dirty="0"/>
          </a:p>
          <a:p>
            <a:pPr marL="0" indent="0">
              <a:lnSpc>
                <a:spcPts val="1700"/>
              </a:lnSpc>
              <a:buNone/>
            </a:pPr>
            <a:endParaRPr lang="en-US" sz="1150" dirty="0"/>
          </a:p>
          <a:p>
            <a:pPr marL="0" indent="0">
              <a:lnSpc>
                <a:spcPts val="1700"/>
              </a:lnSpc>
              <a:buNone/>
            </a:pPr>
            <a:r>
              <a:rPr lang="en-US" sz="1150" dirty="0">
                <a:solidFill>
                  <a:srgbClr val="9FB3A9"/>
                </a:solidFill>
                <a:latin typeface="Calibri" pitchFamily="34" charset="0"/>
                <a:ea typeface="Calibri" pitchFamily="34" charset="-122"/>
                <a:cs typeface="Calibri" pitchFamily="34" charset="-120"/>
              </a:rPr>
              <a:t>1,24,830 structures is far past the point</a:t>
            </a:r>
            <a:endParaRPr lang="en-US" sz="1150" dirty="0"/>
          </a:p>
          <a:p>
            <a:pPr marL="0" indent="0">
              <a:lnSpc>
                <a:spcPts val="1700"/>
              </a:lnSpc>
              <a:buNone/>
            </a:pPr>
            <a:r>
              <a:rPr lang="en-US" sz="1150" dirty="0">
                <a:solidFill>
                  <a:srgbClr val="9FB3A9"/>
                </a:solidFill>
                <a:latin typeface="Calibri" pitchFamily="34" charset="0"/>
                <a:ea typeface="Calibri" pitchFamily="34" charset="-122"/>
                <a:cs typeface="Calibri" pitchFamily="34" charset="-120"/>
              </a:rPr>
              <a:t>where an officer can eyeball an outcome.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THE ECOSYSTEM WE INTEGRATE INTO</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03</a:t>
            </a:r>
            <a:endParaRPr lang="en-US" sz="1050" dirty="0"/>
          </a:p>
        </p:txBody>
      </p:sp>
      <p:sp>
        <p:nvSpPr>
          <p:cNvPr id="4" name="Text 2"/>
          <p:cNvSpPr txBox="1"/>
          <p:nvPr/>
        </p:nvSpPr>
        <p:spPr>
          <a:xfrm>
            <a:off x="566928" y="603504"/>
            <a:ext cx="11057839" cy="960120"/>
          </a:xfrm>
          <a:prstGeom prst="rect">
            <a:avLst/>
          </a:prstGeom>
          <a:noFill/>
          <a:ln/>
        </p:spPr>
        <p:txBody>
          <a:bodyPr wrap="square" lIns="0" tIns="0" rIns="0" bIns="0" rtlCol="0" anchor="ctr"/>
          <a:lstStyle/>
          <a:p>
            <a:pPr marL="0" indent="0">
              <a:lnSpc>
                <a:spcPts val="3068"/>
              </a:lnSpc>
              <a:buNone/>
            </a:pPr>
            <a:r>
              <a:rPr lang="en-US" sz="2600" b="1" dirty="0">
                <a:solidFill>
                  <a:srgbClr val="0E1A16"/>
                </a:solidFill>
                <a:latin typeface="Cambria" pitchFamily="34" charset="0"/>
                <a:ea typeface="Cambria" pitchFamily="34" charset="-122"/>
                <a:cs typeface="Cambria" pitchFamily="34" charset="-120"/>
              </a:rPr>
              <a:t>DoLR already has DRISHTI, SRISHTI and Bhuvan.</a:t>
            </a:r>
            <a:endParaRPr lang="en-US" sz="2600" dirty="0"/>
          </a:p>
          <a:p>
            <a:pPr marL="0" indent="0">
              <a:lnSpc>
                <a:spcPts val="3068"/>
              </a:lnSpc>
              <a:buNone/>
            </a:pPr>
            <a:r>
              <a:rPr lang="en-US" sz="2600" b="1" dirty="0">
                <a:solidFill>
                  <a:srgbClr val="0E1A16"/>
                </a:solidFill>
                <a:latin typeface="Cambria" pitchFamily="34" charset="0"/>
                <a:ea typeface="Cambria" pitchFamily="34" charset="-122"/>
                <a:cs typeface="Cambria" pitchFamily="34" charset="-120"/>
              </a:rPr>
              <a:t>We add the one missing layer.</a:t>
            </a:r>
            <a:endParaRPr lang="en-US" sz="2600" dirty="0"/>
          </a:p>
        </p:txBody>
      </p:sp>
      <p:sp>
        <p:nvSpPr>
          <p:cNvPr id="5" name="Shape 3"/>
          <p:cNvSpPr/>
          <p:nvPr/>
        </p:nvSpPr>
        <p:spPr>
          <a:xfrm>
            <a:off x="566928" y="2084832"/>
            <a:ext cx="2011680" cy="1207008"/>
          </a:xfrm>
          <a:prstGeom prst="roundRect">
            <a:avLst>
              <a:gd name="adj" fmla="val 4545"/>
            </a:avLst>
          </a:prstGeom>
          <a:solidFill>
            <a:srgbClr val="FFFFFF"/>
          </a:solidFill>
          <a:ln w="12700">
            <a:solidFill>
              <a:srgbClr val="C4D0C8"/>
            </a:solidFill>
            <a:prstDash val="solid"/>
          </a:ln>
        </p:spPr>
      </p:sp>
      <p:sp>
        <p:nvSpPr>
          <p:cNvPr id="6" name="Text 4"/>
          <p:cNvSpPr txBox="1"/>
          <p:nvPr/>
        </p:nvSpPr>
        <p:spPr>
          <a:xfrm>
            <a:off x="694944"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PLAN</a:t>
            </a:r>
            <a:endParaRPr lang="en-US" sz="1150" dirty="0"/>
          </a:p>
        </p:txBody>
      </p:sp>
      <p:sp>
        <p:nvSpPr>
          <p:cNvPr id="7" name="Text 5"/>
          <p:cNvSpPr txBox="1"/>
          <p:nvPr/>
        </p:nvSpPr>
        <p:spPr>
          <a:xfrm>
            <a:off x="694944"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DPR at 1:5,000</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GIS + remote sensing</a:t>
            </a:r>
            <a:endParaRPr lang="en-US" sz="1000" dirty="0"/>
          </a:p>
        </p:txBody>
      </p:sp>
      <p:sp>
        <p:nvSpPr>
          <p:cNvPr id="8" name="Text 6"/>
          <p:cNvSpPr txBox="1"/>
          <p:nvPr/>
        </p:nvSpPr>
        <p:spPr>
          <a:xfrm>
            <a:off x="2578608" y="2505456"/>
            <a:ext cx="256032" cy="365760"/>
          </a:xfrm>
          <a:prstGeom prst="rect">
            <a:avLst/>
          </a:prstGeom>
          <a:noFill/>
          <a:ln/>
        </p:spPr>
        <p:txBody>
          <a:bodyPr wrap="square" lIns="0" tIns="0" rIns="0" bIns="0" rtlCol="0" anchor="ctr"/>
          <a:lstStyle/>
          <a:p>
            <a:pPr marL="0" indent="0" algn="ctr">
              <a:buNone/>
            </a:pPr>
            <a:r>
              <a:rPr lang="en-US" sz="2100" b="1" dirty="0">
                <a:solidFill>
                  <a:srgbClr val="6E8E7B"/>
                </a:solidFill>
                <a:latin typeface="Calibri" pitchFamily="34" charset="0"/>
                <a:ea typeface="Calibri" pitchFamily="34" charset="-122"/>
                <a:cs typeface="Calibri" pitchFamily="34" charset="-120"/>
              </a:rPr>
              <a:t>›</a:t>
            </a:r>
            <a:endParaRPr lang="en-US" sz="2100" dirty="0"/>
          </a:p>
        </p:txBody>
      </p:sp>
      <p:sp>
        <p:nvSpPr>
          <p:cNvPr id="9" name="Shape 7"/>
          <p:cNvSpPr/>
          <p:nvPr/>
        </p:nvSpPr>
        <p:spPr>
          <a:xfrm>
            <a:off x="2834640" y="2084832"/>
            <a:ext cx="2011680" cy="1207008"/>
          </a:xfrm>
          <a:prstGeom prst="roundRect">
            <a:avLst>
              <a:gd name="adj" fmla="val 4545"/>
            </a:avLst>
          </a:prstGeom>
          <a:solidFill>
            <a:srgbClr val="FFFFFF"/>
          </a:solidFill>
          <a:ln w="12700">
            <a:solidFill>
              <a:srgbClr val="C4D0C8"/>
            </a:solidFill>
            <a:prstDash val="solid"/>
          </a:ln>
        </p:spPr>
      </p:sp>
      <p:sp>
        <p:nvSpPr>
          <p:cNvPr id="10" name="Text 8"/>
          <p:cNvSpPr txBox="1"/>
          <p:nvPr/>
        </p:nvSpPr>
        <p:spPr>
          <a:xfrm>
            <a:off x="2962656"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IMPLEMENT</a:t>
            </a:r>
            <a:endParaRPr lang="en-US" sz="1150" dirty="0"/>
          </a:p>
        </p:txBody>
      </p:sp>
      <p:sp>
        <p:nvSpPr>
          <p:cNvPr id="11" name="Text 9"/>
          <p:cNvSpPr txBox="1"/>
          <p:nvPr/>
        </p:nvSpPr>
        <p:spPr>
          <a:xfrm>
            <a:off x="2962656"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works executed</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unique ID assigned</a:t>
            </a:r>
            <a:endParaRPr lang="en-US" sz="1000" dirty="0"/>
          </a:p>
        </p:txBody>
      </p:sp>
      <p:sp>
        <p:nvSpPr>
          <p:cNvPr id="12" name="Text 10"/>
          <p:cNvSpPr txBox="1"/>
          <p:nvPr/>
        </p:nvSpPr>
        <p:spPr>
          <a:xfrm>
            <a:off x="4846320" y="2505456"/>
            <a:ext cx="256032" cy="365760"/>
          </a:xfrm>
          <a:prstGeom prst="rect">
            <a:avLst/>
          </a:prstGeom>
          <a:noFill/>
          <a:ln/>
        </p:spPr>
        <p:txBody>
          <a:bodyPr wrap="square" lIns="0" tIns="0" rIns="0" bIns="0" rtlCol="0" anchor="ctr"/>
          <a:lstStyle/>
          <a:p>
            <a:pPr marL="0" indent="0" algn="ctr">
              <a:buNone/>
            </a:pPr>
            <a:r>
              <a:rPr lang="en-US" sz="2100" b="1" dirty="0">
                <a:solidFill>
                  <a:srgbClr val="6E8E7B"/>
                </a:solidFill>
                <a:latin typeface="Calibri" pitchFamily="34" charset="0"/>
                <a:ea typeface="Calibri" pitchFamily="34" charset="-122"/>
                <a:cs typeface="Calibri" pitchFamily="34" charset="-120"/>
              </a:rPr>
              <a:t>›</a:t>
            </a:r>
            <a:endParaRPr lang="en-US" sz="2100" dirty="0"/>
          </a:p>
        </p:txBody>
      </p:sp>
      <p:sp>
        <p:nvSpPr>
          <p:cNvPr id="13" name="Shape 11"/>
          <p:cNvSpPr/>
          <p:nvPr/>
        </p:nvSpPr>
        <p:spPr>
          <a:xfrm>
            <a:off x="5102352" y="2084832"/>
            <a:ext cx="2011680" cy="1207008"/>
          </a:xfrm>
          <a:prstGeom prst="roundRect">
            <a:avLst>
              <a:gd name="adj" fmla="val 4545"/>
            </a:avLst>
          </a:prstGeom>
          <a:solidFill>
            <a:srgbClr val="FFFFFF"/>
          </a:solidFill>
          <a:ln w="12700">
            <a:solidFill>
              <a:srgbClr val="C4D0C8"/>
            </a:solidFill>
            <a:prstDash val="solid"/>
          </a:ln>
        </p:spPr>
      </p:sp>
      <p:sp>
        <p:nvSpPr>
          <p:cNvPr id="14" name="Text 12"/>
          <p:cNvSpPr txBox="1"/>
          <p:nvPr/>
        </p:nvSpPr>
        <p:spPr>
          <a:xfrm>
            <a:off x="5230368"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GEO-TAG</a:t>
            </a:r>
            <a:endParaRPr lang="en-US" sz="1150" dirty="0"/>
          </a:p>
        </p:txBody>
      </p:sp>
      <p:sp>
        <p:nvSpPr>
          <p:cNvPr id="15" name="Text 13"/>
          <p:cNvSpPr txBox="1"/>
          <p:nvPr/>
        </p:nvSpPr>
        <p:spPr>
          <a:xfrm>
            <a:off x="5230368"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DRISHTI 2.0 — GPS,</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orientation, 2 photos</a:t>
            </a:r>
            <a:endParaRPr lang="en-US" sz="1000" dirty="0"/>
          </a:p>
        </p:txBody>
      </p:sp>
      <p:sp>
        <p:nvSpPr>
          <p:cNvPr id="16" name="Text 14"/>
          <p:cNvSpPr txBox="1"/>
          <p:nvPr/>
        </p:nvSpPr>
        <p:spPr>
          <a:xfrm>
            <a:off x="7114032" y="2505456"/>
            <a:ext cx="256032" cy="365760"/>
          </a:xfrm>
          <a:prstGeom prst="rect">
            <a:avLst/>
          </a:prstGeom>
          <a:noFill/>
          <a:ln/>
        </p:spPr>
        <p:txBody>
          <a:bodyPr wrap="square" lIns="0" tIns="0" rIns="0" bIns="0" rtlCol="0" anchor="ctr"/>
          <a:lstStyle/>
          <a:p>
            <a:pPr marL="0" indent="0" algn="ctr">
              <a:buNone/>
            </a:pPr>
            <a:r>
              <a:rPr lang="en-US" sz="2100" b="1" dirty="0">
                <a:solidFill>
                  <a:srgbClr val="6E8E7B"/>
                </a:solidFill>
                <a:latin typeface="Calibri" pitchFamily="34" charset="0"/>
                <a:ea typeface="Calibri" pitchFamily="34" charset="-122"/>
                <a:cs typeface="Calibri" pitchFamily="34" charset="-120"/>
              </a:rPr>
              <a:t>›</a:t>
            </a:r>
            <a:endParaRPr lang="en-US" sz="2100" dirty="0"/>
          </a:p>
        </p:txBody>
      </p:sp>
      <p:sp>
        <p:nvSpPr>
          <p:cNvPr id="17" name="Shape 15"/>
          <p:cNvSpPr/>
          <p:nvPr/>
        </p:nvSpPr>
        <p:spPr>
          <a:xfrm>
            <a:off x="7370064" y="2084832"/>
            <a:ext cx="2011680" cy="1207008"/>
          </a:xfrm>
          <a:prstGeom prst="roundRect">
            <a:avLst>
              <a:gd name="adj" fmla="val 4545"/>
            </a:avLst>
          </a:prstGeom>
          <a:solidFill>
            <a:srgbClr val="FFFFFF"/>
          </a:solidFill>
          <a:ln w="12700">
            <a:solidFill>
              <a:srgbClr val="C4D0C8"/>
            </a:solidFill>
            <a:prstDash val="solid"/>
          </a:ln>
        </p:spPr>
      </p:sp>
      <p:sp>
        <p:nvSpPr>
          <p:cNvPr id="18" name="Text 16"/>
          <p:cNvSpPr txBox="1"/>
          <p:nvPr/>
        </p:nvSpPr>
        <p:spPr>
          <a:xfrm>
            <a:off x="7498080"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MODERATE</a:t>
            </a:r>
            <a:endParaRPr lang="en-US" sz="1150" dirty="0"/>
          </a:p>
        </p:txBody>
      </p:sp>
      <p:sp>
        <p:nvSpPr>
          <p:cNvPr id="19" name="Text 17"/>
          <p:cNvSpPr txBox="1"/>
          <p:nvPr/>
        </p:nvSpPr>
        <p:spPr>
          <a:xfrm>
            <a:off x="7498080"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SRISHTI 2.0 —</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accept / reject by eye</a:t>
            </a:r>
            <a:endParaRPr lang="en-US" sz="1000" dirty="0"/>
          </a:p>
        </p:txBody>
      </p:sp>
      <p:sp>
        <p:nvSpPr>
          <p:cNvPr id="20" name="Text 18"/>
          <p:cNvSpPr txBox="1"/>
          <p:nvPr/>
        </p:nvSpPr>
        <p:spPr>
          <a:xfrm>
            <a:off x="9381744" y="2505456"/>
            <a:ext cx="256032" cy="365760"/>
          </a:xfrm>
          <a:prstGeom prst="rect">
            <a:avLst/>
          </a:prstGeom>
          <a:noFill/>
          <a:ln/>
        </p:spPr>
        <p:txBody>
          <a:bodyPr wrap="square" lIns="0" tIns="0" rIns="0" bIns="0" rtlCol="0" anchor="ctr"/>
          <a:lstStyle/>
          <a:p>
            <a:pPr marL="0" indent="0" algn="ctr">
              <a:buNone/>
            </a:pPr>
            <a:r>
              <a:rPr lang="en-US" sz="2100" b="1" dirty="0">
                <a:solidFill>
                  <a:srgbClr val="6E8E7B"/>
                </a:solidFill>
                <a:latin typeface="Calibri" pitchFamily="34" charset="0"/>
                <a:ea typeface="Calibri" pitchFamily="34" charset="-122"/>
                <a:cs typeface="Calibri" pitchFamily="34" charset="-120"/>
              </a:rPr>
              <a:t>›</a:t>
            </a:r>
            <a:endParaRPr lang="en-US" sz="2100" dirty="0"/>
          </a:p>
        </p:txBody>
      </p:sp>
      <p:sp>
        <p:nvSpPr>
          <p:cNvPr id="21" name="Shape 19"/>
          <p:cNvSpPr/>
          <p:nvPr/>
        </p:nvSpPr>
        <p:spPr>
          <a:xfrm>
            <a:off x="9637776" y="2084832"/>
            <a:ext cx="2011680" cy="1207008"/>
          </a:xfrm>
          <a:prstGeom prst="roundRect">
            <a:avLst>
              <a:gd name="adj" fmla="val 4545"/>
            </a:avLst>
          </a:prstGeom>
          <a:solidFill>
            <a:srgbClr val="FFFFFF"/>
          </a:solidFill>
          <a:ln w="12700">
            <a:solidFill>
              <a:srgbClr val="C4D0C8"/>
            </a:solidFill>
            <a:prstDash val="solid"/>
          </a:ln>
        </p:spPr>
      </p:sp>
      <p:sp>
        <p:nvSpPr>
          <p:cNvPr id="22" name="Text 20"/>
          <p:cNvSpPr txBox="1"/>
          <p:nvPr/>
        </p:nvSpPr>
        <p:spPr>
          <a:xfrm>
            <a:off x="9765792"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EVALUATE</a:t>
            </a:r>
            <a:endParaRPr lang="en-US" sz="1150" dirty="0"/>
          </a:p>
        </p:txBody>
      </p:sp>
      <p:sp>
        <p:nvSpPr>
          <p:cNvPr id="23" name="Text 21"/>
          <p:cNvSpPr txBox="1"/>
          <p:nvPr/>
        </p:nvSpPr>
        <p:spPr>
          <a:xfrm>
            <a:off x="9765792"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mid &amp; end-term,</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manual, retrospective</a:t>
            </a:r>
            <a:endParaRPr lang="en-US" sz="1000" dirty="0"/>
          </a:p>
        </p:txBody>
      </p:sp>
      <p:sp>
        <p:nvSpPr>
          <p:cNvPr id="24" name="Text 22"/>
          <p:cNvSpPr txBox="1"/>
          <p:nvPr/>
        </p:nvSpPr>
        <p:spPr>
          <a:xfrm>
            <a:off x="7013448" y="3291840"/>
            <a:ext cx="457200" cy="219456"/>
          </a:xfrm>
          <a:prstGeom prst="rect">
            <a:avLst/>
          </a:prstGeom>
          <a:noFill/>
          <a:ln/>
        </p:spPr>
        <p:txBody>
          <a:bodyPr wrap="square" lIns="0" tIns="0" rIns="0" bIns="0" rtlCol="0" anchor="ctr"/>
          <a:lstStyle/>
          <a:p>
            <a:pPr marL="0" indent="0" algn="ctr">
              <a:buNone/>
            </a:pPr>
            <a:r>
              <a:rPr lang="en-US" sz="1200" dirty="0">
                <a:solidFill>
                  <a:srgbClr val="9E5C13"/>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6419088" y="3529584"/>
            <a:ext cx="1645920" cy="365760"/>
          </a:xfrm>
          <a:prstGeom prst="roundRect">
            <a:avLst>
              <a:gd name="adj" fmla="val 50000"/>
            </a:avLst>
          </a:prstGeom>
          <a:solidFill>
            <a:srgbClr val="9E5C13"/>
          </a:solidFill>
          <a:ln w="12700">
            <a:solidFill>
              <a:srgbClr val="9E5C13"/>
            </a:solidFill>
            <a:prstDash val="solid"/>
          </a:ln>
        </p:spPr>
      </p:sp>
      <p:sp>
        <p:nvSpPr>
          <p:cNvPr id="26" name="Text 24"/>
          <p:cNvSpPr txBox="1"/>
          <p:nvPr/>
        </p:nvSpPr>
        <p:spPr>
          <a:xfrm>
            <a:off x="6419088" y="3529584"/>
            <a:ext cx="1645920" cy="365760"/>
          </a:xfrm>
          <a:prstGeom prst="rect">
            <a:avLst/>
          </a:prstGeom>
          <a:noFill/>
          <a:ln/>
        </p:spPr>
        <p:txBody>
          <a:bodyPr wrap="square" lIns="0" tIns="0" rIns="0" bIns="0" rtlCol="0" anchor="ctr"/>
          <a:lstStyle/>
          <a:p>
            <a:pPr marL="0" indent="0" algn="ctr">
              <a:buNone/>
            </a:pPr>
            <a:r>
              <a:rPr lang="en-US" sz="1150" b="1" kern="0" spc="60" dirty="0">
                <a:solidFill>
                  <a:srgbClr val="FFFFFF"/>
                </a:solidFill>
                <a:latin typeface="Calibri" pitchFamily="34" charset="0"/>
                <a:ea typeface="Calibri" pitchFamily="34" charset="-122"/>
                <a:cs typeface="Calibri" pitchFamily="34" charset="-120"/>
              </a:rPr>
              <a:t>PRAMAAN</a:t>
            </a:r>
            <a:endParaRPr lang="en-US" sz="1150" dirty="0"/>
          </a:p>
        </p:txBody>
      </p:sp>
      <p:sp>
        <p:nvSpPr>
          <p:cNvPr id="27" name="Text 25"/>
          <p:cNvSpPr txBox="1"/>
          <p:nvPr/>
        </p:nvSpPr>
        <p:spPr>
          <a:xfrm>
            <a:off x="8156448" y="3547872"/>
            <a:ext cx="3108960" cy="329184"/>
          </a:xfrm>
          <a:prstGeom prst="rect">
            <a:avLst/>
          </a:prstGeom>
          <a:noFill/>
          <a:ln/>
        </p:spPr>
        <p:txBody>
          <a:bodyPr wrap="square" lIns="0" tIns="0" rIns="0" bIns="0" rtlCol="0" anchor="ctr"/>
          <a:lstStyle/>
          <a:p>
            <a:pPr marL="0" indent="0">
              <a:buNone/>
            </a:pPr>
            <a:r>
              <a:rPr lang="en-US" sz="1100" i="1" dirty="0">
                <a:solidFill>
                  <a:srgbClr val="55665D"/>
                </a:solidFill>
                <a:latin typeface="Calibri" pitchFamily="34" charset="0"/>
                <a:ea typeface="Calibri" pitchFamily="34" charset="-122"/>
                <a:cs typeface="Calibri" pitchFamily="34" charset="-120"/>
              </a:rPr>
              <a:t>one arrow inserted — nothing replaced</a:t>
            </a:r>
            <a:endParaRPr lang="en-US" sz="1100" dirty="0"/>
          </a:p>
        </p:txBody>
      </p:sp>
      <p:sp>
        <p:nvSpPr>
          <p:cNvPr id="28" name="Shape 26"/>
          <p:cNvSpPr/>
          <p:nvPr/>
        </p:nvSpPr>
        <p:spPr>
          <a:xfrm>
            <a:off x="566928" y="4169664"/>
            <a:ext cx="11057839" cy="1883664"/>
          </a:xfrm>
          <a:prstGeom prst="roundRect">
            <a:avLst>
              <a:gd name="adj" fmla="val 2913"/>
            </a:avLst>
          </a:prstGeom>
          <a:solidFill>
            <a:srgbClr val="FFFFFF"/>
          </a:solidFill>
          <a:ln w="12700">
            <a:solidFill>
              <a:srgbClr val="C4D0C8"/>
            </a:solidFill>
            <a:prstDash val="solid"/>
          </a:ln>
        </p:spPr>
      </p:sp>
      <p:sp>
        <p:nvSpPr>
          <p:cNvPr id="29" name="Text 27"/>
          <p:cNvSpPr txBox="1"/>
          <p:nvPr/>
        </p:nvSpPr>
        <p:spPr>
          <a:xfrm>
            <a:off x="914400" y="4352544"/>
            <a:ext cx="10058400" cy="292608"/>
          </a:xfrm>
          <a:prstGeom prst="rect">
            <a:avLst/>
          </a:prstGeom>
          <a:noFill/>
          <a:ln/>
        </p:spPr>
        <p:txBody>
          <a:bodyPr wrap="square" lIns="0" tIns="0" rIns="0" bIns="0" rtlCol="0" anchor="ctr"/>
          <a:lstStyle/>
          <a:p>
            <a:pPr marL="0" indent="0">
              <a:buNone/>
            </a:pPr>
            <a:r>
              <a:rPr lang="en-US" sz="1250" b="1" dirty="0">
                <a:solidFill>
                  <a:srgbClr val="0E1A16"/>
                </a:solidFill>
                <a:latin typeface="Calibri" pitchFamily="34" charset="0"/>
                <a:ea typeface="Calibri" pitchFamily="34" charset="-122"/>
                <a:cs typeface="Calibri" pitchFamily="34" charset="-120"/>
              </a:rPr>
              <a:t>The WDC-PMKSY 2.0 Guidelines already mandate this analysis:</a:t>
            </a:r>
            <a:endParaRPr lang="en-US" sz="1250" dirty="0"/>
          </a:p>
        </p:txBody>
      </p:sp>
      <p:sp>
        <p:nvSpPr>
          <p:cNvPr id="30" name="Text 28"/>
          <p:cNvSpPr txBox="1"/>
          <p:nvPr/>
        </p:nvSpPr>
        <p:spPr>
          <a:xfrm>
            <a:off x="914400" y="4700016"/>
            <a:ext cx="10058400" cy="841248"/>
          </a:xfrm>
          <a:prstGeom prst="rect">
            <a:avLst/>
          </a:prstGeom>
          <a:noFill/>
          <a:ln/>
        </p:spPr>
        <p:txBody>
          <a:bodyPr wrap="square" lIns="0" tIns="0" rIns="0" bIns="0" rtlCol="0" anchor="ctr"/>
          <a:lstStyle/>
          <a:p>
            <a:pPr marL="0" indent="0">
              <a:lnSpc>
                <a:spcPts val="2100"/>
              </a:lnSpc>
              <a:buNone/>
            </a:pPr>
            <a:r>
              <a:rPr lang="en-US" sz="1400" i="1" dirty="0">
                <a:solidFill>
                  <a:srgbClr val="2C5A4B"/>
                </a:solidFill>
                <a:latin typeface="Cambria" pitchFamily="34" charset="0"/>
                <a:ea typeface="Cambria" pitchFamily="34" charset="-122"/>
                <a:cs typeface="Cambria" pitchFamily="34" charset="-120"/>
              </a:rPr>
              <a:t>“change detection technique should be used to understand changes in vegetation cover by NDVI and changes in</a:t>
            </a:r>
            <a:endParaRPr lang="en-US" sz="1400" dirty="0"/>
          </a:p>
          <a:p>
            <a:pPr marL="0" indent="0">
              <a:lnSpc>
                <a:spcPts val="2100"/>
              </a:lnSpc>
              <a:buNone/>
            </a:pPr>
            <a:r>
              <a:rPr lang="en-US" sz="1400" i="1" dirty="0">
                <a:solidFill>
                  <a:srgbClr val="2C5A4B"/>
                </a:solidFill>
                <a:latin typeface="Cambria" pitchFamily="34" charset="0"/>
                <a:ea typeface="Cambria" pitchFamily="34" charset="-122"/>
                <a:cs typeface="Cambria" pitchFamily="34" charset="-120"/>
              </a:rPr>
              <a:t>water availability through NDWI”      ·      “cross verification of satellite-based images with ground-based</a:t>
            </a:r>
            <a:endParaRPr lang="en-US" sz="1400" dirty="0"/>
          </a:p>
          <a:p>
            <a:pPr marL="0" indent="0">
              <a:lnSpc>
                <a:spcPts val="2100"/>
              </a:lnSpc>
              <a:buNone/>
            </a:pPr>
            <a:r>
              <a:rPr lang="en-US" sz="1400" i="1" dirty="0">
                <a:solidFill>
                  <a:srgbClr val="2C5A4B"/>
                </a:solidFill>
                <a:latin typeface="Cambria" pitchFamily="34" charset="0"/>
                <a:ea typeface="Cambria" pitchFamily="34" charset="-122"/>
                <a:cs typeface="Cambria" pitchFamily="34" charset="-120"/>
              </a:rPr>
              <a:t>interventions can facilitate multiple levels of authentication, monitoring”</a:t>
            </a:r>
            <a:endParaRPr lang="en-US" sz="1400" dirty="0"/>
          </a:p>
        </p:txBody>
      </p:sp>
      <p:sp>
        <p:nvSpPr>
          <p:cNvPr id="31" name="Text 29"/>
          <p:cNvSpPr txBox="1"/>
          <p:nvPr/>
        </p:nvSpPr>
        <p:spPr>
          <a:xfrm>
            <a:off x="914400" y="5632704"/>
            <a:ext cx="10058400" cy="292608"/>
          </a:xfrm>
          <a:prstGeom prst="rect">
            <a:avLst/>
          </a:prstGeom>
          <a:noFill/>
          <a:ln/>
        </p:spPr>
        <p:txBody>
          <a:bodyPr wrap="square" lIns="0" tIns="0" rIns="0" bIns="0" rtlCol="0" anchor="ctr"/>
          <a:lstStyle/>
          <a:p>
            <a:pPr marL="0" indent="0">
              <a:buNone/>
            </a:pPr>
            <a:r>
              <a:rPr lang="en-US" sz="1250" b="1" dirty="0">
                <a:solidFill>
                  <a:srgbClr val="92321F"/>
                </a:solidFill>
                <a:latin typeface="Calibri" pitchFamily="34" charset="0"/>
                <a:ea typeface="Calibri" pitchFamily="34" charset="-122"/>
                <a:cs typeface="Calibri" pitchFamily="34" charset="-120"/>
              </a:rPr>
              <a:t>Nobody has built the system that does those two sentences at scale. That is PRAMAAN.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THE SOLUTION</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04</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Every photograph becomes a testable claim.</a:t>
            </a:r>
            <a:endParaRPr lang="en-US" sz="3300" dirty="0"/>
          </a:p>
        </p:txBody>
      </p:sp>
      <p:sp>
        <p:nvSpPr>
          <p:cNvPr id="5" name="Shape 3"/>
          <p:cNvSpPr/>
          <p:nvPr/>
        </p:nvSpPr>
        <p:spPr>
          <a:xfrm>
            <a:off x="566928" y="1517904"/>
            <a:ext cx="2011680" cy="365760"/>
          </a:xfrm>
          <a:prstGeom prst="roundRect">
            <a:avLst>
              <a:gd name="adj" fmla="val 50000"/>
            </a:avLst>
          </a:prstGeom>
          <a:solidFill>
            <a:srgbClr val="0E1A16"/>
          </a:solidFill>
          <a:ln w="12700">
            <a:solidFill>
              <a:srgbClr val="0E1A16"/>
            </a:solidFill>
            <a:prstDash val="solid"/>
          </a:ln>
        </p:spPr>
      </p:sp>
      <p:sp>
        <p:nvSpPr>
          <p:cNvPr id="6" name="Text 4"/>
          <p:cNvSpPr txBox="1"/>
          <p:nvPr/>
        </p:nvSpPr>
        <p:spPr>
          <a:xfrm>
            <a:off x="566928"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CLAIM</a:t>
            </a:r>
            <a:endParaRPr lang="en-US" sz="1100" dirty="0"/>
          </a:p>
        </p:txBody>
      </p:sp>
      <p:sp>
        <p:nvSpPr>
          <p:cNvPr id="7" name="Text 5"/>
          <p:cNvSpPr txBox="1"/>
          <p:nvPr/>
        </p:nvSpPr>
        <p:spPr>
          <a:xfrm>
            <a:off x="2578608" y="1499616"/>
            <a:ext cx="256032" cy="402336"/>
          </a:xfrm>
          <a:prstGeom prst="rect">
            <a:avLst/>
          </a:prstGeom>
          <a:noFill/>
          <a:ln/>
        </p:spPr>
        <p:txBody>
          <a:bodyPr wrap="square" lIns="0" tIns="0" rIns="0" bIns="0" rtlCol="0" anchor="ctr"/>
          <a:lstStyle/>
          <a:p>
            <a:pPr marL="0" indent="0" algn="ctr">
              <a:buNone/>
            </a:pPr>
            <a:r>
              <a:rPr lang="en-US" sz="1900" b="1" dirty="0">
                <a:solidFill>
                  <a:srgbClr val="6E8E7B"/>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2834640" y="1517904"/>
            <a:ext cx="2011680" cy="365760"/>
          </a:xfrm>
          <a:prstGeom prst="roundRect">
            <a:avLst>
              <a:gd name="adj" fmla="val 50000"/>
            </a:avLst>
          </a:prstGeom>
          <a:solidFill>
            <a:srgbClr val="0E1A16"/>
          </a:solidFill>
          <a:ln w="12700">
            <a:solidFill>
              <a:srgbClr val="0E1A16"/>
            </a:solidFill>
            <a:prstDash val="solid"/>
          </a:ln>
        </p:spPr>
      </p:sp>
      <p:sp>
        <p:nvSpPr>
          <p:cNvPr id="9" name="Text 7"/>
          <p:cNvSpPr txBox="1"/>
          <p:nvPr/>
        </p:nvSpPr>
        <p:spPr>
          <a:xfrm>
            <a:off x="2834640"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EVIDENCE</a:t>
            </a:r>
            <a:endParaRPr lang="en-US" sz="1100" dirty="0"/>
          </a:p>
        </p:txBody>
      </p:sp>
      <p:sp>
        <p:nvSpPr>
          <p:cNvPr id="10" name="Text 8"/>
          <p:cNvSpPr txBox="1"/>
          <p:nvPr/>
        </p:nvSpPr>
        <p:spPr>
          <a:xfrm>
            <a:off x="4846320" y="1499616"/>
            <a:ext cx="256032" cy="402336"/>
          </a:xfrm>
          <a:prstGeom prst="rect">
            <a:avLst/>
          </a:prstGeom>
          <a:noFill/>
          <a:ln/>
        </p:spPr>
        <p:txBody>
          <a:bodyPr wrap="square" lIns="0" tIns="0" rIns="0" bIns="0" rtlCol="0" anchor="ctr"/>
          <a:lstStyle/>
          <a:p>
            <a:pPr marL="0" indent="0" algn="ctr">
              <a:buNone/>
            </a:pPr>
            <a:r>
              <a:rPr lang="en-US" sz="1900" b="1" dirty="0">
                <a:solidFill>
                  <a:srgbClr val="6E8E7B"/>
                </a:solidFill>
                <a:latin typeface="Calibri" pitchFamily="34" charset="0"/>
                <a:ea typeface="Calibri" pitchFamily="34" charset="-122"/>
                <a:cs typeface="Calibri" pitchFamily="34" charset="-120"/>
              </a:rPr>
              <a:t>›</a:t>
            </a:r>
            <a:endParaRPr lang="en-US" sz="1900" dirty="0"/>
          </a:p>
        </p:txBody>
      </p:sp>
      <p:sp>
        <p:nvSpPr>
          <p:cNvPr id="11" name="Shape 9"/>
          <p:cNvSpPr/>
          <p:nvPr/>
        </p:nvSpPr>
        <p:spPr>
          <a:xfrm>
            <a:off x="5102352" y="1517904"/>
            <a:ext cx="2011680" cy="365760"/>
          </a:xfrm>
          <a:prstGeom prst="roundRect">
            <a:avLst>
              <a:gd name="adj" fmla="val 50000"/>
            </a:avLst>
          </a:prstGeom>
          <a:solidFill>
            <a:srgbClr val="0E1A16"/>
          </a:solidFill>
          <a:ln w="12700">
            <a:solidFill>
              <a:srgbClr val="0E1A16"/>
            </a:solidFill>
            <a:prstDash val="solid"/>
          </a:ln>
        </p:spPr>
      </p:sp>
      <p:sp>
        <p:nvSpPr>
          <p:cNvPr id="12" name="Text 10"/>
          <p:cNvSpPr txBox="1"/>
          <p:nvPr/>
        </p:nvSpPr>
        <p:spPr>
          <a:xfrm>
            <a:off x="5102352"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VERDICT</a:t>
            </a:r>
            <a:endParaRPr lang="en-US" sz="1100" dirty="0"/>
          </a:p>
        </p:txBody>
      </p:sp>
      <p:sp>
        <p:nvSpPr>
          <p:cNvPr id="13" name="Text 11"/>
          <p:cNvSpPr txBox="1"/>
          <p:nvPr/>
        </p:nvSpPr>
        <p:spPr>
          <a:xfrm>
            <a:off x="7114032" y="1499616"/>
            <a:ext cx="256032" cy="402336"/>
          </a:xfrm>
          <a:prstGeom prst="rect">
            <a:avLst/>
          </a:prstGeom>
          <a:noFill/>
          <a:ln/>
        </p:spPr>
        <p:txBody>
          <a:bodyPr wrap="square" lIns="0" tIns="0" rIns="0" bIns="0" rtlCol="0" anchor="ctr"/>
          <a:lstStyle/>
          <a:p>
            <a:pPr marL="0" indent="0" algn="ctr">
              <a:buNone/>
            </a:pPr>
            <a:r>
              <a:rPr lang="en-US" sz="1900" b="1" dirty="0">
                <a:solidFill>
                  <a:srgbClr val="6E8E7B"/>
                </a:solidFill>
                <a:latin typeface="Calibri" pitchFamily="34" charset="0"/>
                <a:ea typeface="Calibri" pitchFamily="34" charset="-122"/>
                <a:cs typeface="Calibri" pitchFamily="34" charset="-120"/>
              </a:rPr>
              <a:t>›</a:t>
            </a:r>
            <a:endParaRPr lang="en-US" sz="1900" dirty="0"/>
          </a:p>
        </p:txBody>
      </p:sp>
      <p:sp>
        <p:nvSpPr>
          <p:cNvPr id="14" name="Shape 12"/>
          <p:cNvSpPr/>
          <p:nvPr/>
        </p:nvSpPr>
        <p:spPr>
          <a:xfrm>
            <a:off x="7370064" y="1517904"/>
            <a:ext cx="2011680" cy="365760"/>
          </a:xfrm>
          <a:prstGeom prst="roundRect">
            <a:avLst>
              <a:gd name="adj" fmla="val 50000"/>
            </a:avLst>
          </a:prstGeom>
          <a:solidFill>
            <a:srgbClr val="0E1A16"/>
          </a:solidFill>
          <a:ln w="12700">
            <a:solidFill>
              <a:srgbClr val="0E1A16"/>
            </a:solidFill>
            <a:prstDash val="solid"/>
          </a:ln>
        </p:spPr>
      </p:sp>
      <p:sp>
        <p:nvSpPr>
          <p:cNvPr id="15" name="Text 13"/>
          <p:cNvSpPr txBox="1"/>
          <p:nvPr/>
        </p:nvSpPr>
        <p:spPr>
          <a:xfrm>
            <a:off x="7370064"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ACTION</a:t>
            </a:r>
            <a:endParaRPr lang="en-US" sz="1100" dirty="0"/>
          </a:p>
        </p:txBody>
      </p:sp>
      <p:sp>
        <p:nvSpPr>
          <p:cNvPr id="16" name="Text 14"/>
          <p:cNvSpPr txBox="1"/>
          <p:nvPr/>
        </p:nvSpPr>
        <p:spPr>
          <a:xfrm>
            <a:off x="9381744" y="1499616"/>
            <a:ext cx="256032" cy="402336"/>
          </a:xfrm>
          <a:prstGeom prst="rect">
            <a:avLst/>
          </a:prstGeom>
          <a:noFill/>
          <a:ln/>
        </p:spPr>
        <p:txBody>
          <a:bodyPr wrap="square" lIns="0" tIns="0" rIns="0" bIns="0" rtlCol="0" anchor="ctr"/>
          <a:lstStyle/>
          <a:p>
            <a:pPr marL="0" indent="0" algn="ctr">
              <a:buNone/>
            </a:pPr>
            <a:r>
              <a:rPr lang="en-US" sz="1900" b="1" dirty="0">
                <a:solidFill>
                  <a:srgbClr val="6E8E7B"/>
                </a:solidFill>
                <a:latin typeface="Calibri" pitchFamily="34" charset="0"/>
                <a:ea typeface="Calibri" pitchFamily="34" charset="-122"/>
                <a:cs typeface="Calibri" pitchFamily="34" charset="-120"/>
              </a:rPr>
              <a:t>›</a:t>
            </a:r>
            <a:endParaRPr lang="en-US" sz="1900" dirty="0"/>
          </a:p>
        </p:txBody>
      </p:sp>
      <p:sp>
        <p:nvSpPr>
          <p:cNvPr id="17" name="Shape 15"/>
          <p:cNvSpPr/>
          <p:nvPr/>
        </p:nvSpPr>
        <p:spPr>
          <a:xfrm>
            <a:off x="9637776" y="1517904"/>
            <a:ext cx="2011680" cy="365760"/>
          </a:xfrm>
          <a:prstGeom prst="roundRect">
            <a:avLst>
              <a:gd name="adj" fmla="val 50000"/>
            </a:avLst>
          </a:prstGeom>
          <a:solidFill>
            <a:srgbClr val="2C5A4B"/>
          </a:solidFill>
          <a:ln w="12700">
            <a:solidFill>
              <a:srgbClr val="2C5A4B"/>
            </a:solidFill>
            <a:prstDash val="solid"/>
          </a:ln>
        </p:spPr>
      </p:sp>
      <p:sp>
        <p:nvSpPr>
          <p:cNvPr id="18" name="Text 16"/>
          <p:cNvSpPr txBox="1"/>
          <p:nvPr/>
        </p:nvSpPr>
        <p:spPr>
          <a:xfrm>
            <a:off x="9637776"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SIGNED RECORD</a:t>
            </a:r>
            <a:endParaRPr lang="en-US" sz="1100" dirty="0"/>
          </a:p>
        </p:txBody>
      </p:sp>
      <p:sp>
        <p:nvSpPr>
          <p:cNvPr id="19" name="Shape 17"/>
          <p:cNvSpPr/>
          <p:nvPr/>
        </p:nvSpPr>
        <p:spPr>
          <a:xfrm>
            <a:off x="566928" y="2231136"/>
            <a:ext cx="6446520" cy="676656"/>
          </a:xfrm>
          <a:prstGeom prst="roundRect">
            <a:avLst>
              <a:gd name="adj" fmla="val 8108"/>
            </a:avLst>
          </a:prstGeom>
          <a:solidFill>
            <a:srgbClr val="FFFFFF"/>
          </a:solidFill>
          <a:ln w="12700">
            <a:solidFill>
              <a:srgbClr val="C4D0C8"/>
            </a:solidFill>
            <a:prstDash val="solid"/>
          </a:ln>
        </p:spPr>
      </p:sp>
      <p:sp>
        <p:nvSpPr>
          <p:cNvPr id="20" name="Shape 18"/>
          <p:cNvSpPr/>
          <p:nvPr/>
        </p:nvSpPr>
        <p:spPr>
          <a:xfrm>
            <a:off x="731520" y="2386584"/>
            <a:ext cx="365760" cy="365760"/>
          </a:xfrm>
          <a:prstGeom prst="ellipse">
            <a:avLst/>
          </a:prstGeom>
          <a:solidFill>
            <a:srgbClr val="55665D"/>
          </a:solidFill>
          <a:ln w="12700">
            <a:solidFill>
              <a:srgbClr val="55665D"/>
            </a:solidFill>
            <a:prstDash val="solid"/>
          </a:ln>
        </p:spPr>
      </p:sp>
      <p:sp>
        <p:nvSpPr>
          <p:cNvPr id="21" name="Text 19"/>
          <p:cNvSpPr txBox="1"/>
          <p:nvPr/>
        </p:nvSpPr>
        <p:spPr>
          <a:xfrm>
            <a:off x="731520" y="2386584"/>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0.15</a:t>
            </a:r>
            <a:endParaRPr lang="en-US" sz="850" dirty="0"/>
          </a:p>
        </p:txBody>
      </p:sp>
      <p:sp>
        <p:nvSpPr>
          <p:cNvPr id="22" name="Text 20"/>
          <p:cNvSpPr txBox="1"/>
          <p:nvPr/>
        </p:nvSpPr>
        <p:spPr>
          <a:xfrm>
            <a:off x="1243584" y="2331720"/>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PHOTO</a:t>
            </a:r>
            <a:endParaRPr lang="en-US" sz="1100" dirty="0"/>
          </a:p>
        </p:txBody>
      </p:sp>
      <p:sp>
        <p:nvSpPr>
          <p:cNvPr id="23" name="Text 21"/>
          <p:cNvSpPr txBox="1"/>
          <p:nvPr/>
        </p:nvSpPr>
        <p:spPr>
          <a:xfrm>
            <a:off x="1243584" y="2578608"/>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What the field says. Weighted lowest — it is the claim’s own source.</a:t>
            </a:r>
            <a:endParaRPr lang="en-US" sz="1050" dirty="0"/>
          </a:p>
        </p:txBody>
      </p:sp>
      <p:sp>
        <p:nvSpPr>
          <p:cNvPr id="24" name="Shape 22"/>
          <p:cNvSpPr/>
          <p:nvPr/>
        </p:nvSpPr>
        <p:spPr>
          <a:xfrm>
            <a:off x="566928" y="2999232"/>
            <a:ext cx="6446520" cy="676656"/>
          </a:xfrm>
          <a:prstGeom prst="roundRect">
            <a:avLst>
              <a:gd name="adj" fmla="val 8108"/>
            </a:avLst>
          </a:prstGeom>
          <a:solidFill>
            <a:srgbClr val="FFFFFF"/>
          </a:solidFill>
          <a:ln w="12700">
            <a:solidFill>
              <a:srgbClr val="C4D0C8"/>
            </a:solidFill>
            <a:prstDash val="solid"/>
          </a:ln>
        </p:spPr>
      </p:sp>
      <p:sp>
        <p:nvSpPr>
          <p:cNvPr id="25" name="Shape 23"/>
          <p:cNvSpPr/>
          <p:nvPr/>
        </p:nvSpPr>
        <p:spPr>
          <a:xfrm>
            <a:off x="731520" y="3154680"/>
            <a:ext cx="365760" cy="365760"/>
          </a:xfrm>
          <a:prstGeom prst="ellipse">
            <a:avLst/>
          </a:prstGeom>
          <a:solidFill>
            <a:srgbClr val="2C5A4B"/>
          </a:solidFill>
          <a:ln w="12700">
            <a:solidFill>
              <a:srgbClr val="2C5A4B"/>
            </a:solidFill>
            <a:prstDash val="solid"/>
          </a:ln>
        </p:spPr>
      </p:sp>
      <p:sp>
        <p:nvSpPr>
          <p:cNvPr id="26" name="Text 24"/>
          <p:cNvSpPr txBox="1"/>
          <p:nvPr/>
        </p:nvSpPr>
        <p:spPr>
          <a:xfrm>
            <a:off x="731520" y="3154680"/>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0.25</a:t>
            </a:r>
            <a:endParaRPr lang="en-US" sz="850" dirty="0"/>
          </a:p>
        </p:txBody>
      </p:sp>
      <p:sp>
        <p:nvSpPr>
          <p:cNvPr id="27" name="Text 25"/>
          <p:cNvSpPr txBox="1"/>
          <p:nvPr/>
        </p:nvSpPr>
        <p:spPr>
          <a:xfrm>
            <a:off x="1243584" y="3099816"/>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TERRAIN</a:t>
            </a:r>
            <a:endParaRPr lang="en-US" sz="1100" dirty="0"/>
          </a:p>
        </p:txBody>
      </p:sp>
      <p:sp>
        <p:nvSpPr>
          <p:cNvPr id="28" name="Text 26"/>
          <p:cNvSpPr txBox="1"/>
          <p:nvPr/>
        </p:nvSpPr>
        <p:spPr>
          <a:xfrm>
            <a:off x="1243584" y="3346704"/>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Flow accumulation, Strahler order, slope. Deterministic. No AI.</a:t>
            </a:r>
            <a:endParaRPr lang="en-US" sz="1050" dirty="0"/>
          </a:p>
        </p:txBody>
      </p:sp>
      <p:sp>
        <p:nvSpPr>
          <p:cNvPr id="29" name="Shape 27"/>
          <p:cNvSpPr/>
          <p:nvPr/>
        </p:nvSpPr>
        <p:spPr>
          <a:xfrm>
            <a:off x="566928" y="3767328"/>
            <a:ext cx="6446520" cy="676656"/>
          </a:xfrm>
          <a:prstGeom prst="roundRect">
            <a:avLst>
              <a:gd name="adj" fmla="val 8108"/>
            </a:avLst>
          </a:prstGeom>
          <a:solidFill>
            <a:srgbClr val="FFFFFF"/>
          </a:solidFill>
          <a:ln w="12700">
            <a:solidFill>
              <a:srgbClr val="C4D0C8"/>
            </a:solidFill>
            <a:prstDash val="solid"/>
          </a:ln>
        </p:spPr>
      </p:sp>
      <p:sp>
        <p:nvSpPr>
          <p:cNvPr id="30" name="Shape 28"/>
          <p:cNvSpPr/>
          <p:nvPr/>
        </p:nvSpPr>
        <p:spPr>
          <a:xfrm>
            <a:off x="731520" y="3922776"/>
            <a:ext cx="365760" cy="365760"/>
          </a:xfrm>
          <a:prstGeom prst="ellipse">
            <a:avLst/>
          </a:prstGeom>
          <a:solidFill>
            <a:srgbClr val="146275"/>
          </a:solidFill>
          <a:ln w="12700">
            <a:solidFill>
              <a:srgbClr val="146275"/>
            </a:solidFill>
            <a:prstDash val="solid"/>
          </a:ln>
        </p:spPr>
      </p:sp>
      <p:sp>
        <p:nvSpPr>
          <p:cNvPr id="31" name="Text 29"/>
          <p:cNvSpPr txBox="1"/>
          <p:nvPr/>
        </p:nvSpPr>
        <p:spPr>
          <a:xfrm>
            <a:off x="731520" y="3922776"/>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0.25</a:t>
            </a:r>
            <a:endParaRPr lang="en-US" sz="850" dirty="0"/>
          </a:p>
        </p:txBody>
      </p:sp>
      <p:sp>
        <p:nvSpPr>
          <p:cNvPr id="32" name="Text 30"/>
          <p:cNvSpPr txBox="1"/>
          <p:nvPr/>
        </p:nvSpPr>
        <p:spPr>
          <a:xfrm>
            <a:off x="1243584" y="3867912"/>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SATELLITE</a:t>
            </a:r>
            <a:endParaRPr lang="en-US" sz="1100" dirty="0"/>
          </a:p>
        </p:txBody>
      </p:sp>
      <p:sp>
        <p:nvSpPr>
          <p:cNvPr id="33" name="Text 31"/>
          <p:cNvSpPr txBox="1"/>
          <p:nvPr/>
        </p:nvSpPr>
        <p:spPr>
          <a:xfrm>
            <a:off x="1243584" y="4114800"/>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NDVI · MNDWI · bare soil · water persistence, at 30 m.</a:t>
            </a:r>
            <a:endParaRPr lang="en-US" sz="1050" dirty="0"/>
          </a:p>
        </p:txBody>
      </p:sp>
      <p:sp>
        <p:nvSpPr>
          <p:cNvPr id="34" name="Shape 32"/>
          <p:cNvSpPr/>
          <p:nvPr/>
        </p:nvSpPr>
        <p:spPr>
          <a:xfrm>
            <a:off x="566928" y="4535424"/>
            <a:ext cx="6446520" cy="676656"/>
          </a:xfrm>
          <a:prstGeom prst="roundRect">
            <a:avLst>
              <a:gd name="adj" fmla="val 8108"/>
            </a:avLst>
          </a:prstGeom>
          <a:solidFill>
            <a:srgbClr val="FFFFFF"/>
          </a:solidFill>
          <a:ln w="12700">
            <a:solidFill>
              <a:srgbClr val="C4D0C8"/>
            </a:solidFill>
            <a:prstDash val="solid"/>
          </a:ln>
        </p:spPr>
      </p:sp>
      <p:sp>
        <p:nvSpPr>
          <p:cNvPr id="35" name="Shape 33"/>
          <p:cNvSpPr/>
          <p:nvPr/>
        </p:nvSpPr>
        <p:spPr>
          <a:xfrm>
            <a:off x="731520" y="4690872"/>
            <a:ext cx="365760" cy="365760"/>
          </a:xfrm>
          <a:prstGeom prst="ellipse">
            <a:avLst/>
          </a:prstGeom>
          <a:solidFill>
            <a:srgbClr val="146275"/>
          </a:solidFill>
          <a:ln w="12700">
            <a:solidFill>
              <a:srgbClr val="146275"/>
            </a:solidFill>
            <a:prstDash val="solid"/>
          </a:ln>
        </p:spPr>
      </p:sp>
      <p:sp>
        <p:nvSpPr>
          <p:cNvPr id="36" name="Text 34"/>
          <p:cNvSpPr txBox="1"/>
          <p:nvPr/>
        </p:nvSpPr>
        <p:spPr>
          <a:xfrm>
            <a:off x="731520" y="4690872"/>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0.25</a:t>
            </a:r>
            <a:endParaRPr lang="en-US" sz="850" dirty="0"/>
          </a:p>
        </p:txBody>
      </p:sp>
      <p:sp>
        <p:nvSpPr>
          <p:cNvPr id="37" name="Text 35"/>
          <p:cNvSpPr txBox="1"/>
          <p:nvPr/>
        </p:nvSpPr>
        <p:spPr>
          <a:xfrm>
            <a:off x="1243584" y="4636008"/>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TEMPORAL</a:t>
            </a:r>
            <a:endParaRPr lang="en-US" sz="1100" dirty="0"/>
          </a:p>
        </p:txBody>
      </p:sp>
      <p:sp>
        <p:nvSpPr>
          <p:cNvPr id="38" name="Text 36"/>
          <p:cNvSpPr txBox="1"/>
          <p:nvPr/>
        </p:nvSpPr>
        <p:spPr>
          <a:xfrm>
            <a:off x="1243584" y="4882896"/>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Same season, year on year, against 5–12 matched controls.</a:t>
            </a:r>
            <a:endParaRPr lang="en-US" sz="1050" dirty="0"/>
          </a:p>
        </p:txBody>
      </p:sp>
      <p:sp>
        <p:nvSpPr>
          <p:cNvPr id="39" name="Shape 37"/>
          <p:cNvSpPr/>
          <p:nvPr/>
        </p:nvSpPr>
        <p:spPr>
          <a:xfrm>
            <a:off x="566928" y="5303520"/>
            <a:ext cx="6446520" cy="676656"/>
          </a:xfrm>
          <a:prstGeom prst="roundRect">
            <a:avLst>
              <a:gd name="adj" fmla="val 8108"/>
            </a:avLst>
          </a:prstGeom>
          <a:solidFill>
            <a:srgbClr val="FFFFFF"/>
          </a:solidFill>
          <a:ln w="12700">
            <a:solidFill>
              <a:srgbClr val="C4D0C8"/>
            </a:solidFill>
            <a:prstDash val="solid"/>
          </a:ln>
        </p:spPr>
      </p:sp>
      <p:sp>
        <p:nvSpPr>
          <p:cNvPr id="40" name="Shape 38"/>
          <p:cNvSpPr/>
          <p:nvPr/>
        </p:nvSpPr>
        <p:spPr>
          <a:xfrm>
            <a:off x="731520" y="5458968"/>
            <a:ext cx="365760" cy="365760"/>
          </a:xfrm>
          <a:prstGeom prst="ellipse">
            <a:avLst/>
          </a:prstGeom>
          <a:solidFill>
            <a:srgbClr val="55665D"/>
          </a:solidFill>
          <a:ln w="12700">
            <a:solidFill>
              <a:srgbClr val="55665D"/>
            </a:solidFill>
            <a:prstDash val="solid"/>
          </a:ln>
        </p:spPr>
      </p:sp>
      <p:sp>
        <p:nvSpPr>
          <p:cNvPr id="41" name="Text 39"/>
          <p:cNvSpPr txBox="1"/>
          <p:nvPr/>
        </p:nvSpPr>
        <p:spPr>
          <a:xfrm>
            <a:off x="731520" y="5458968"/>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0.10</a:t>
            </a:r>
            <a:endParaRPr lang="en-US" sz="850" dirty="0"/>
          </a:p>
        </p:txBody>
      </p:sp>
      <p:sp>
        <p:nvSpPr>
          <p:cNvPr id="42" name="Text 40"/>
          <p:cNvSpPr txBox="1"/>
          <p:nvPr/>
        </p:nvSpPr>
        <p:spPr>
          <a:xfrm>
            <a:off x="1243584" y="5404104"/>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CONTEXT</a:t>
            </a:r>
            <a:endParaRPr lang="en-US" sz="1100" dirty="0"/>
          </a:p>
        </p:txBody>
      </p:sp>
      <p:sp>
        <p:nvSpPr>
          <p:cNvPr id="43" name="Text 41"/>
          <p:cNvSpPr txBox="1"/>
          <p:nvPr/>
        </p:nvSpPr>
        <p:spPr>
          <a:xfrm>
            <a:off x="1243584" y="5650992"/>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Rainfall anomaly, land cover, neighbouring interventions.</a:t>
            </a:r>
            <a:endParaRPr lang="en-US" sz="1050" dirty="0"/>
          </a:p>
        </p:txBody>
      </p:sp>
      <p:sp>
        <p:nvSpPr>
          <p:cNvPr id="44" name="Text 42"/>
          <p:cNvSpPr txBox="1"/>
          <p:nvPr/>
        </p:nvSpPr>
        <p:spPr>
          <a:xfrm>
            <a:off x="566928" y="6089904"/>
            <a:ext cx="6446520" cy="274320"/>
          </a:xfrm>
          <a:prstGeom prst="rect">
            <a:avLst/>
          </a:prstGeom>
          <a:noFill/>
          <a:ln/>
        </p:spPr>
        <p:txBody>
          <a:bodyPr wrap="square" lIns="0" tIns="0" rIns="0" bIns="0" rtlCol="0" anchor="ctr"/>
          <a:lstStyle/>
          <a:p>
            <a:pPr marL="0" indent="0">
              <a:buNone/>
            </a:pPr>
            <a:r>
              <a:rPr lang="en-US" sz="1000" i="1" dirty="0">
                <a:solidFill>
                  <a:srgbClr val="9FB3A9"/>
                </a:solidFill>
                <a:latin typeface="Calibri" pitchFamily="34" charset="0"/>
                <a:ea typeface="Calibri" pitchFamily="34" charset="-122"/>
                <a:cs typeface="Calibri" pitchFamily="34" charset="-120"/>
              </a:rPr>
              <a:t>Illustrative verdict card. Five independent evidence families; the weights are published in the interface and adjustable per deployment.</a:t>
            </a:r>
            <a:endParaRPr lang="en-US" sz="1000" dirty="0"/>
          </a:p>
        </p:txBody>
      </p:sp>
      <p:sp>
        <p:nvSpPr>
          <p:cNvPr id="45" name="Shape 43"/>
          <p:cNvSpPr/>
          <p:nvPr/>
        </p:nvSpPr>
        <p:spPr>
          <a:xfrm>
            <a:off x="7406640" y="2231136"/>
            <a:ext cx="4206240" cy="3767328"/>
          </a:xfrm>
          <a:prstGeom prst="roundRect">
            <a:avLst>
              <a:gd name="adj" fmla="val 1456"/>
            </a:avLst>
          </a:prstGeom>
          <a:solidFill>
            <a:srgbClr val="FFFFFF"/>
          </a:solidFill>
          <a:ln w="12700">
            <a:solidFill>
              <a:srgbClr val="C4D0C8"/>
            </a:solidFill>
            <a:prstDash val="solid"/>
          </a:ln>
        </p:spPr>
      </p:sp>
      <p:sp>
        <p:nvSpPr>
          <p:cNvPr id="46" name="Text 44"/>
          <p:cNvSpPr txBox="1"/>
          <p:nvPr/>
        </p:nvSpPr>
        <p:spPr>
          <a:xfrm>
            <a:off x="7644384" y="2395728"/>
            <a:ext cx="3749040" cy="256032"/>
          </a:xfrm>
          <a:prstGeom prst="rect">
            <a:avLst/>
          </a:prstGeom>
          <a:noFill/>
          <a:ln/>
        </p:spPr>
        <p:txBody>
          <a:bodyPr wrap="square" lIns="0" tIns="0" rIns="0" bIns="0" rtlCol="0" anchor="ctr"/>
          <a:lstStyle/>
          <a:p>
            <a:pPr marL="0" indent="0">
              <a:buNone/>
            </a:pPr>
            <a:r>
              <a:rPr lang="en-US" sz="950" b="1" kern="0" spc="160" dirty="0">
                <a:solidFill>
                  <a:srgbClr val="9FB3A9"/>
                </a:solidFill>
                <a:latin typeface="Calibri" pitchFamily="34" charset="0"/>
                <a:ea typeface="Calibri" pitchFamily="34" charset="-122"/>
                <a:cs typeface="Calibri" pitchFamily="34" charset="-120"/>
              </a:rPr>
              <a:t>VERDICT</a:t>
            </a:r>
            <a:endParaRPr lang="en-US" sz="950" dirty="0"/>
          </a:p>
        </p:txBody>
      </p:sp>
      <p:sp>
        <p:nvSpPr>
          <p:cNvPr id="47" name="Shape 45"/>
          <p:cNvSpPr/>
          <p:nvPr/>
        </p:nvSpPr>
        <p:spPr>
          <a:xfrm>
            <a:off x="7644384" y="2688336"/>
            <a:ext cx="3730752" cy="365760"/>
          </a:xfrm>
          <a:prstGeom prst="roundRect">
            <a:avLst>
              <a:gd name="adj" fmla="val 50000"/>
            </a:avLst>
          </a:prstGeom>
          <a:solidFill>
            <a:srgbClr val="2F7D5F"/>
          </a:solidFill>
          <a:ln w="12700">
            <a:solidFill>
              <a:srgbClr val="2F7D5F"/>
            </a:solidFill>
            <a:prstDash val="solid"/>
          </a:ln>
        </p:spPr>
      </p:sp>
      <p:sp>
        <p:nvSpPr>
          <p:cNvPr id="48" name="Text 46"/>
          <p:cNvSpPr txBox="1"/>
          <p:nvPr/>
        </p:nvSpPr>
        <p:spPr>
          <a:xfrm>
            <a:off x="7644384" y="2688336"/>
            <a:ext cx="3730752"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L4 · CONTROL-DIFFERENCED</a:t>
            </a:r>
            <a:endParaRPr lang="en-US" sz="1050" dirty="0"/>
          </a:p>
        </p:txBody>
      </p:sp>
      <p:sp>
        <p:nvSpPr>
          <p:cNvPr id="49" name="Text 47"/>
          <p:cNvSpPr txBox="1"/>
          <p:nvPr/>
        </p:nvSpPr>
        <p:spPr>
          <a:xfrm>
            <a:off x="7644384" y="3163824"/>
            <a:ext cx="3730752" cy="256032"/>
          </a:xfrm>
          <a:prstGeom prst="rect">
            <a:avLst/>
          </a:prstGeom>
          <a:noFill/>
          <a:ln/>
        </p:spPr>
        <p:txBody>
          <a:bodyPr wrap="square" lIns="0" tIns="0" rIns="0" bIns="0" rtlCol="0" anchor="ctr"/>
          <a:lstStyle/>
          <a:p>
            <a:pPr marL="0" indent="0">
              <a:buNone/>
            </a:pPr>
            <a:r>
              <a:rPr lang="en-US" sz="1150" dirty="0">
                <a:solidFill>
                  <a:srgbClr val="0E1A16"/>
                </a:solidFill>
                <a:latin typeface="Calibri" pitchFamily="34" charset="0"/>
                <a:ea typeface="Calibri" pitchFamily="34" charset="-122"/>
                <a:cs typeface="Calibri" pitchFamily="34" charset="-120"/>
              </a:rPr>
              <a:t>confidence 0.84     coverage 0.92</a:t>
            </a:r>
            <a:endParaRPr lang="en-US" sz="1150" dirty="0"/>
          </a:p>
        </p:txBody>
      </p:sp>
      <p:sp>
        <p:nvSpPr>
          <p:cNvPr id="50" name="Shape 48"/>
          <p:cNvSpPr/>
          <p:nvPr/>
        </p:nvSpPr>
        <p:spPr>
          <a:xfrm>
            <a:off x="7644384" y="3529584"/>
            <a:ext cx="3730752" cy="0"/>
          </a:xfrm>
          <a:prstGeom prst="line">
            <a:avLst/>
          </a:prstGeom>
          <a:noFill/>
          <a:ln w="12700">
            <a:solidFill>
              <a:srgbClr val="C4D0C8"/>
            </a:solidFill>
            <a:prstDash val="solid"/>
          </a:ln>
        </p:spPr>
      </p:sp>
      <p:sp>
        <p:nvSpPr>
          <p:cNvPr id="51" name="Text 49"/>
          <p:cNvSpPr txBox="1"/>
          <p:nvPr/>
        </p:nvSpPr>
        <p:spPr>
          <a:xfrm>
            <a:off x="7644384" y="3639312"/>
            <a:ext cx="3730752" cy="256032"/>
          </a:xfrm>
          <a:prstGeom prst="rect">
            <a:avLst/>
          </a:prstGeom>
          <a:noFill/>
          <a:ln/>
        </p:spPr>
        <p:txBody>
          <a:bodyPr wrap="square" lIns="0" tIns="0" rIns="0" bIns="0" rtlCol="0" anchor="ctr"/>
          <a:lstStyle/>
          <a:p>
            <a:pPr marL="0" indent="0">
              <a:buNone/>
            </a:pPr>
            <a:r>
              <a:rPr lang="en-US" sz="950" b="1" kern="0" spc="140" dirty="0">
                <a:solidFill>
                  <a:srgbClr val="92321F"/>
                </a:solidFill>
                <a:latin typeface="Calibri" pitchFamily="34" charset="0"/>
                <a:ea typeface="Calibri" pitchFamily="34" charset="-122"/>
                <a:cs typeface="Calibri" pitchFamily="34" charset="-120"/>
              </a:rPr>
              <a:t>DISSENT — ALWAYS SHOWN</a:t>
            </a:r>
            <a:endParaRPr lang="en-US" sz="950" dirty="0"/>
          </a:p>
        </p:txBody>
      </p:sp>
      <p:sp>
        <p:nvSpPr>
          <p:cNvPr id="52" name="Text 50"/>
          <p:cNvSpPr txBox="1"/>
          <p:nvPr/>
        </p:nvSpPr>
        <p:spPr>
          <a:xfrm>
            <a:off x="7644384" y="3931920"/>
            <a:ext cx="3730752" cy="1005840"/>
          </a:xfrm>
          <a:prstGeom prst="rect">
            <a:avLst/>
          </a:prstGeom>
          <a:noFill/>
          <a:ln/>
        </p:spPr>
        <p:txBody>
          <a:bodyPr wrap="square" lIns="0" tIns="0" rIns="0" bIns="0" rtlCol="0" anchor="ctr"/>
          <a:lstStyle/>
          <a:p>
            <a:pPr marL="342900" indent="-342900">
              <a:lnSpc>
                <a:spcPts val="1491"/>
              </a:lnSpc>
              <a:spcAft>
                <a:spcPts val="500"/>
              </a:spcAft>
              <a:buSzPct val="100000"/>
              <a:buChar char="•"/>
            </a:pPr>
            <a:r>
              <a:rPr lang="en-US" sz="1050" dirty="0">
                <a:solidFill>
                  <a:srgbClr val="55665D"/>
                </a:solidFill>
                <a:latin typeface="Calibri" pitchFamily="34" charset="0"/>
                <a:ea typeface="Calibri" pitchFamily="34" charset="-122"/>
                <a:cs typeface="Calibri" pitchFamily="34" charset="-120"/>
              </a:rPr>
              <a:t>Cloud gap Jul–Aug 2024: 2 of 6 scenes lost</a:t>
            </a:r>
            <a:endParaRPr lang="en-US" sz="1050" dirty="0"/>
          </a:p>
          <a:p>
            <a:pPr marL="342900" indent="-342900">
              <a:lnSpc>
                <a:spcPts val="1491"/>
              </a:lnSpc>
              <a:spcAft>
                <a:spcPts val="500"/>
              </a:spcAft>
              <a:buSzPct val="100000"/>
              <a:buChar char="•"/>
            </a:pPr>
            <a:r>
              <a:rPr lang="en-US" sz="1050" dirty="0">
                <a:solidFill>
                  <a:srgbClr val="55665D"/>
                </a:solidFill>
                <a:latin typeface="Calibri" pitchFamily="34" charset="0"/>
                <a:ea typeface="Calibri" pitchFamily="34" charset="-122"/>
                <a:cs typeface="Calibri" pitchFamily="34" charset="-120"/>
              </a:rPr>
              <a:t>Only one fully observed post-monsoon season</a:t>
            </a:r>
            <a:endParaRPr lang="en-US" sz="1050" dirty="0"/>
          </a:p>
          <a:p>
            <a:pPr marL="342900" indent="-342900">
              <a:lnSpc>
                <a:spcPts val="1491"/>
              </a:lnSpc>
              <a:spcAft>
                <a:spcPts val="500"/>
              </a:spcAft>
              <a:buSzPct val="100000"/>
              <a:buChar char="•"/>
            </a:pPr>
            <a:r>
              <a:rPr lang="en-US" sz="1050" dirty="0">
                <a:solidFill>
                  <a:srgbClr val="55665D"/>
                </a:solidFill>
                <a:latin typeface="Calibri" pitchFamily="34" charset="0"/>
                <a:ea typeface="Calibri" pitchFamily="34" charset="-122"/>
                <a:cs typeface="Calibri" pitchFamily="34" charset="-120"/>
              </a:rPr>
              <a:t>Correlational — this is not a causal claim</a:t>
            </a:r>
            <a:endParaRPr lang="en-US" sz="1050" dirty="0"/>
          </a:p>
        </p:txBody>
      </p:sp>
      <p:sp>
        <p:nvSpPr>
          <p:cNvPr id="53" name="Shape 51"/>
          <p:cNvSpPr/>
          <p:nvPr/>
        </p:nvSpPr>
        <p:spPr>
          <a:xfrm>
            <a:off x="7644384" y="5084064"/>
            <a:ext cx="3730752" cy="0"/>
          </a:xfrm>
          <a:prstGeom prst="line">
            <a:avLst/>
          </a:prstGeom>
          <a:noFill/>
          <a:ln w="12700">
            <a:solidFill>
              <a:srgbClr val="C4D0C8"/>
            </a:solidFill>
            <a:prstDash val="solid"/>
          </a:ln>
        </p:spPr>
      </p:sp>
      <p:sp>
        <p:nvSpPr>
          <p:cNvPr id="54" name="Text 52"/>
          <p:cNvSpPr txBox="1"/>
          <p:nvPr/>
        </p:nvSpPr>
        <p:spPr>
          <a:xfrm>
            <a:off x="7644384" y="5212080"/>
            <a:ext cx="3730752" cy="694944"/>
          </a:xfrm>
          <a:prstGeom prst="rect">
            <a:avLst/>
          </a:prstGeom>
          <a:noFill/>
          <a:ln/>
        </p:spPr>
        <p:txBody>
          <a:bodyPr wrap="square" lIns="0" tIns="0" rIns="0" bIns="0" rtlCol="0" anchor="ctr"/>
          <a:lstStyle/>
          <a:p>
            <a:pPr marL="0" indent="0">
              <a:lnSpc>
                <a:spcPts val="2000"/>
              </a:lnSpc>
              <a:buNone/>
            </a:pPr>
            <a:r>
              <a:rPr lang="en-US" sz="1400" i="1" dirty="0">
                <a:solidFill>
                  <a:srgbClr val="2C5A4B"/>
                </a:solidFill>
                <a:latin typeface="Cambria" pitchFamily="34" charset="0"/>
                <a:ea typeface="Cambria" pitchFamily="34" charset="-122"/>
                <a:cs typeface="Cambria" pitchFamily="34" charset="-120"/>
              </a:rPr>
              <a:t>The officer decides.</a:t>
            </a:r>
            <a:endParaRPr lang="en-US" sz="1400" dirty="0"/>
          </a:p>
          <a:p>
            <a:pPr marL="0" indent="0">
              <a:lnSpc>
                <a:spcPts val="2000"/>
              </a:lnSpc>
              <a:buNone/>
            </a:pPr>
            <a:r>
              <a:rPr lang="en-US" sz="1400" i="1" dirty="0">
                <a:solidFill>
                  <a:srgbClr val="2C5A4B"/>
                </a:solidFill>
                <a:latin typeface="Cambria" pitchFamily="34" charset="0"/>
                <a:ea typeface="Cambria" pitchFamily="34" charset="-122"/>
                <a:cs typeface="Cambria" pitchFamily="34" charset="-120"/>
              </a:rPr>
              <a:t>AI never becomes government</a:t>
            </a:r>
            <a:endParaRPr lang="en-US" sz="1400" dirty="0"/>
          </a:p>
          <a:p>
            <a:pPr marL="0" indent="0">
              <a:lnSpc>
                <a:spcPts val="2000"/>
              </a:lnSpc>
              <a:buNone/>
            </a:pPr>
            <a:r>
              <a:rPr lang="en-US" sz="1400" i="1" dirty="0">
                <a:solidFill>
                  <a:srgbClr val="2C5A4B"/>
                </a:solidFill>
                <a:latin typeface="Cambria" pitchFamily="34" charset="0"/>
                <a:ea typeface="Cambria" pitchFamily="34" charset="-122"/>
                <a:cs typeface="Cambria" pitchFamily="34" charset="-120"/>
              </a:rPr>
              <a:t>evidence on its own.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THE KILLER WORKFLOW</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05</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One workflow, built completely — not ten built partially.</a:t>
            </a:r>
            <a:endParaRPr lang="en-US" sz="3300" dirty="0"/>
          </a:p>
        </p:txBody>
      </p:sp>
      <p:sp>
        <p:nvSpPr>
          <p:cNvPr id="5" name="Shape 3"/>
          <p:cNvSpPr/>
          <p:nvPr/>
        </p:nvSpPr>
        <p:spPr>
          <a:xfrm>
            <a:off x="566928" y="1700784"/>
            <a:ext cx="3566160" cy="1847088"/>
          </a:xfrm>
          <a:prstGeom prst="roundRect">
            <a:avLst>
              <a:gd name="adj" fmla="val 2970"/>
            </a:avLst>
          </a:prstGeom>
          <a:solidFill>
            <a:srgbClr val="FFFFFF"/>
          </a:solidFill>
          <a:ln w="12700">
            <a:solidFill>
              <a:srgbClr val="C4D0C8"/>
            </a:solidFill>
            <a:prstDash val="solid"/>
          </a:ln>
        </p:spPr>
      </p:sp>
      <p:sp>
        <p:nvSpPr>
          <p:cNvPr id="6" name="Shape 4"/>
          <p:cNvSpPr/>
          <p:nvPr/>
        </p:nvSpPr>
        <p:spPr>
          <a:xfrm>
            <a:off x="804672" y="1938528"/>
            <a:ext cx="548640" cy="548640"/>
          </a:xfrm>
          <a:prstGeom prst="ellipse">
            <a:avLst/>
          </a:prstGeom>
          <a:solidFill>
            <a:srgbClr val="2C5A4B"/>
          </a:solidFill>
          <a:ln w="12700">
            <a:solidFill>
              <a:srgbClr val="2C5A4B"/>
            </a:solidFill>
            <a:prstDash val="solid"/>
          </a:ln>
        </p:spPr>
      </p:sp>
      <p:sp>
        <p:nvSpPr>
          <p:cNvPr id="7" name="Text 5"/>
          <p:cNvSpPr txBox="1"/>
          <p:nvPr/>
        </p:nvSpPr>
        <p:spPr>
          <a:xfrm>
            <a:off x="804672" y="193852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8" name="Text 6"/>
          <p:cNvSpPr txBox="1"/>
          <p:nvPr/>
        </p:nvSpPr>
        <p:spPr>
          <a:xfrm>
            <a:off x="1481328" y="1975104"/>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SELECT</a:t>
            </a:r>
            <a:endParaRPr lang="en-US" sz="1700" dirty="0"/>
          </a:p>
        </p:txBody>
      </p:sp>
      <p:sp>
        <p:nvSpPr>
          <p:cNvPr id="9" name="Text 7"/>
          <p:cNvSpPr txBox="1"/>
          <p:nvPr/>
        </p:nvSpPr>
        <p:spPr>
          <a:xfrm>
            <a:off x="804672" y="2633472"/>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Open a real micro-watershed. 142 geo-tagged works, 6 already flagged.</a:t>
            </a:r>
            <a:endParaRPr lang="en-US" sz="1200" dirty="0"/>
          </a:p>
        </p:txBody>
      </p:sp>
      <p:sp>
        <p:nvSpPr>
          <p:cNvPr id="10" name="Shape 8"/>
          <p:cNvSpPr/>
          <p:nvPr/>
        </p:nvSpPr>
        <p:spPr>
          <a:xfrm>
            <a:off x="4407408" y="1700784"/>
            <a:ext cx="3566160" cy="1847088"/>
          </a:xfrm>
          <a:prstGeom prst="roundRect">
            <a:avLst>
              <a:gd name="adj" fmla="val 2970"/>
            </a:avLst>
          </a:prstGeom>
          <a:solidFill>
            <a:srgbClr val="FFFFFF"/>
          </a:solidFill>
          <a:ln w="12700">
            <a:solidFill>
              <a:srgbClr val="C4D0C8"/>
            </a:solidFill>
            <a:prstDash val="solid"/>
          </a:ln>
        </p:spPr>
      </p:sp>
      <p:sp>
        <p:nvSpPr>
          <p:cNvPr id="11" name="Shape 9"/>
          <p:cNvSpPr/>
          <p:nvPr/>
        </p:nvSpPr>
        <p:spPr>
          <a:xfrm>
            <a:off x="4645152" y="1938528"/>
            <a:ext cx="548640" cy="548640"/>
          </a:xfrm>
          <a:prstGeom prst="ellipse">
            <a:avLst/>
          </a:prstGeom>
          <a:solidFill>
            <a:srgbClr val="2C5A4B"/>
          </a:solidFill>
          <a:ln w="12700">
            <a:solidFill>
              <a:srgbClr val="2C5A4B"/>
            </a:solidFill>
            <a:prstDash val="solid"/>
          </a:ln>
        </p:spPr>
      </p:sp>
      <p:sp>
        <p:nvSpPr>
          <p:cNvPr id="12" name="Text 10"/>
          <p:cNvSpPr txBox="1"/>
          <p:nvPr/>
        </p:nvSpPr>
        <p:spPr>
          <a:xfrm>
            <a:off x="4645152" y="193852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13" name="Text 11"/>
          <p:cNvSpPr txBox="1"/>
          <p:nvPr/>
        </p:nvSpPr>
        <p:spPr>
          <a:xfrm>
            <a:off x="5321808" y="1975104"/>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INGEST</a:t>
            </a:r>
            <a:endParaRPr lang="en-US" sz="1700" dirty="0"/>
          </a:p>
        </p:txBody>
      </p:sp>
      <p:sp>
        <p:nvSpPr>
          <p:cNvPr id="14" name="Text 12"/>
          <p:cNvSpPr txBox="1"/>
          <p:nvPr/>
        </p:nvSpPr>
        <p:spPr>
          <a:xfrm>
            <a:off x="4645152" y="2633472"/>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EXIF → sidecar → CSV → manual pin. Every coordinate carries its provenance rank.</a:t>
            </a:r>
            <a:endParaRPr lang="en-US" sz="1200" dirty="0"/>
          </a:p>
        </p:txBody>
      </p:sp>
      <p:sp>
        <p:nvSpPr>
          <p:cNvPr id="15" name="Shape 13"/>
          <p:cNvSpPr/>
          <p:nvPr/>
        </p:nvSpPr>
        <p:spPr>
          <a:xfrm>
            <a:off x="8247888" y="1700784"/>
            <a:ext cx="3566160" cy="1847088"/>
          </a:xfrm>
          <a:prstGeom prst="roundRect">
            <a:avLst>
              <a:gd name="adj" fmla="val 2970"/>
            </a:avLst>
          </a:prstGeom>
          <a:solidFill>
            <a:srgbClr val="FFFFFF"/>
          </a:solidFill>
          <a:ln w="12700">
            <a:solidFill>
              <a:srgbClr val="C4D0C8"/>
            </a:solidFill>
            <a:prstDash val="solid"/>
          </a:ln>
        </p:spPr>
      </p:sp>
      <p:sp>
        <p:nvSpPr>
          <p:cNvPr id="16" name="Shape 14"/>
          <p:cNvSpPr/>
          <p:nvPr/>
        </p:nvSpPr>
        <p:spPr>
          <a:xfrm>
            <a:off x="8485632" y="1938528"/>
            <a:ext cx="548640" cy="548640"/>
          </a:xfrm>
          <a:prstGeom prst="ellipse">
            <a:avLst/>
          </a:prstGeom>
          <a:solidFill>
            <a:srgbClr val="2C5A4B"/>
          </a:solidFill>
          <a:ln w="12700">
            <a:solidFill>
              <a:srgbClr val="2C5A4B"/>
            </a:solidFill>
            <a:prstDash val="solid"/>
          </a:ln>
        </p:spPr>
      </p:sp>
      <p:sp>
        <p:nvSpPr>
          <p:cNvPr id="17" name="Text 15"/>
          <p:cNvSpPr txBox="1"/>
          <p:nvPr/>
        </p:nvSpPr>
        <p:spPr>
          <a:xfrm>
            <a:off x="8485632" y="193852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18" name="Text 16"/>
          <p:cNvSpPr txBox="1"/>
          <p:nvPr/>
        </p:nvSpPr>
        <p:spPr>
          <a:xfrm>
            <a:off x="9162288" y="1975104"/>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INTERPRET</a:t>
            </a:r>
            <a:endParaRPr lang="en-US" sz="1700" dirty="0"/>
          </a:p>
        </p:txBody>
      </p:sp>
      <p:sp>
        <p:nvSpPr>
          <p:cNvPr id="19" name="Text 17"/>
          <p:cNvSpPr txBox="1"/>
          <p:nvPr/>
        </p:nvSpPr>
        <p:spPr>
          <a:xfrm>
            <a:off x="8485632" y="2633472"/>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Photo attributes with calibrated confidence — and permission to abstain.</a:t>
            </a:r>
            <a:endParaRPr lang="en-US" sz="1200" dirty="0"/>
          </a:p>
        </p:txBody>
      </p:sp>
      <p:sp>
        <p:nvSpPr>
          <p:cNvPr id="20" name="Shape 18"/>
          <p:cNvSpPr/>
          <p:nvPr/>
        </p:nvSpPr>
        <p:spPr>
          <a:xfrm>
            <a:off x="566928" y="3858768"/>
            <a:ext cx="3566160" cy="1847088"/>
          </a:xfrm>
          <a:prstGeom prst="roundRect">
            <a:avLst>
              <a:gd name="adj" fmla="val 2970"/>
            </a:avLst>
          </a:prstGeom>
          <a:solidFill>
            <a:srgbClr val="FFFFFF"/>
          </a:solidFill>
          <a:ln w="12700">
            <a:solidFill>
              <a:srgbClr val="C4D0C8"/>
            </a:solidFill>
            <a:prstDash val="solid"/>
          </a:ln>
        </p:spPr>
      </p:sp>
      <p:sp>
        <p:nvSpPr>
          <p:cNvPr id="21" name="Shape 19"/>
          <p:cNvSpPr/>
          <p:nvPr/>
        </p:nvSpPr>
        <p:spPr>
          <a:xfrm>
            <a:off x="804672" y="4096512"/>
            <a:ext cx="548640" cy="548640"/>
          </a:xfrm>
          <a:prstGeom prst="ellipse">
            <a:avLst/>
          </a:prstGeom>
          <a:solidFill>
            <a:srgbClr val="2C5A4B"/>
          </a:solidFill>
          <a:ln w="12700">
            <a:solidFill>
              <a:srgbClr val="2C5A4B"/>
            </a:solidFill>
            <a:prstDash val="solid"/>
          </a:ln>
        </p:spPr>
      </p:sp>
      <p:sp>
        <p:nvSpPr>
          <p:cNvPr id="22" name="Text 20"/>
          <p:cNvSpPr txBox="1"/>
          <p:nvPr/>
        </p:nvSpPr>
        <p:spPr>
          <a:xfrm>
            <a:off x="804672" y="4096512"/>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23" name="Text 21"/>
          <p:cNvSpPr txBox="1"/>
          <p:nvPr/>
        </p:nvSpPr>
        <p:spPr>
          <a:xfrm>
            <a:off x="1481328" y="4133088"/>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RECONCILE</a:t>
            </a:r>
            <a:endParaRPr lang="en-US" sz="1700" dirty="0"/>
          </a:p>
        </p:txBody>
      </p:sp>
      <p:sp>
        <p:nvSpPr>
          <p:cNvPr id="24" name="Text 22"/>
          <p:cNvSpPr txBox="1"/>
          <p:nvPr/>
        </p:nvSpPr>
        <p:spPr>
          <a:xfrm>
            <a:off x="804672" y="4791456"/>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Terrain, satellite, temporal and matched controls resolve to one verdict.</a:t>
            </a:r>
            <a:endParaRPr lang="en-US" sz="1200" dirty="0"/>
          </a:p>
        </p:txBody>
      </p:sp>
      <p:sp>
        <p:nvSpPr>
          <p:cNvPr id="25" name="Shape 23"/>
          <p:cNvSpPr/>
          <p:nvPr/>
        </p:nvSpPr>
        <p:spPr>
          <a:xfrm>
            <a:off x="4407408" y="3858768"/>
            <a:ext cx="3566160" cy="1847088"/>
          </a:xfrm>
          <a:prstGeom prst="roundRect">
            <a:avLst>
              <a:gd name="adj" fmla="val 2970"/>
            </a:avLst>
          </a:prstGeom>
          <a:solidFill>
            <a:srgbClr val="FFFFFF"/>
          </a:solidFill>
          <a:ln w="12700">
            <a:solidFill>
              <a:srgbClr val="C4D0C8"/>
            </a:solidFill>
            <a:prstDash val="solid"/>
          </a:ln>
        </p:spPr>
      </p:sp>
      <p:sp>
        <p:nvSpPr>
          <p:cNvPr id="26" name="Shape 24"/>
          <p:cNvSpPr/>
          <p:nvPr/>
        </p:nvSpPr>
        <p:spPr>
          <a:xfrm>
            <a:off x="4645152" y="4096512"/>
            <a:ext cx="548640" cy="548640"/>
          </a:xfrm>
          <a:prstGeom prst="ellipse">
            <a:avLst/>
          </a:prstGeom>
          <a:solidFill>
            <a:srgbClr val="2C5A4B"/>
          </a:solidFill>
          <a:ln w="12700">
            <a:solidFill>
              <a:srgbClr val="2C5A4B"/>
            </a:solidFill>
            <a:prstDash val="solid"/>
          </a:ln>
        </p:spPr>
      </p:sp>
      <p:sp>
        <p:nvSpPr>
          <p:cNvPr id="27" name="Text 25"/>
          <p:cNvSpPr txBox="1"/>
          <p:nvPr/>
        </p:nvSpPr>
        <p:spPr>
          <a:xfrm>
            <a:off x="4645152" y="4096512"/>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05</a:t>
            </a:r>
            <a:endParaRPr lang="en-US" sz="1500" dirty="0"/>
          </a:p>
        </p:txBody>
      </p:sp>
      <p:sp>
        <p:nvSpPr>
          <p:cNvPr id="28" name="Text 26"/>
          <p:cNvSpPr txBox="1"/>
          <p:nvPr/>
        </p:nvSpPr>
        <p:spPr>
          <a:xfrm>
            <a:off x="5321808" y="4133088"/>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ADJUDICATE</a:t>
            </a:r>
            <a:endParaRPr lang="en-US" sz="1700" dirty="0"/>
          </a:p>
        </p:txBody>
      </p:sp>
      <p:sp>
        <p:nvSpPr>
          <p:cNvPr id="29" name="Text 27"/>
          <p:cNvSpPr txBox="1"/>
          <p:nvPr/>
        </p:nvSpPr>
        <p:spPr>
          <a:xfrm>
            <a:off x="4645152" y="4791456"/>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Accept, edit or reject. Signed into an append-only, hash-chained ledger.</a:t>
            </a:r>
            <a:endParaRPr lang="en-US" sz="1200" dirty="0"/>
          </a:p>
        </p:txBody>
      </p:sp>
      <p:sp>
        <p:nvSpPr>
          <p:cNvPr id="30" name="Shape 28"/>
          <p:cNvSpPr/>
          <p:nvPr/>
        </p:nvSpPr>
        <p:spPr>
          <a:xfrm>
            <a:off x="8247888" y="3858768"/>
            <a:ext cx="3566160" cy="1847088"/>
          </a:xfrm>
          <a:prstGeom prst="roundRect">
            <a:avLst>
              <a:gd name="adj" fmla="val 2970"/>
            </a:avLst>
          </a:prstGeom>
          <a:solidFill>
            <a:srgbClr val="FFFFFF"/>
          </a:solidFill>
          <a:ln w="12700">
            <a:solidFill>
              <a:srgbClr val="C4D0C8"/>
            </a:solidFill>
            <a:prstDash val="solid"/>
          </a:ln>
        </p:spPr>
      </p:sp>
      <p:sp>
        <p:nvSpPr>
          <p:cNvPr id="31" name="Shape 29"/>
          <p:cNvSpPr/>
          <p:nvPr/>
        </p:nvSpPr>
        <p:spPr>
          <a:xfrm>
            <a:off x="8485632" y="4096512"/>
            <a:ext cx="548640" cy="548640"/>
          </a:xfrm>
          <a:prstGeom prst="ellipse">
            <a:avLst/>
          </a:prstGeom>
          <a:solidFill>
            <a:srgbClr val="2C5A4B"/>
          </a:solidFill>
          <a:ln w="12700">
            <a:solidFill>
              <a:srgbClr val="2C5A4B"/>
            </a:solidFill>
            <a:prstDash val="solid"/>
          </a:ln>
        </p:spPr>
      </p:sp>
      <p:sp>
        <p:nvSpPr>
          <p:cNvPr id="32" name="Text 30"/>
          <p:cNvSpPr txBox="1"/>
          <p:nvPr/>
        </p:nvSpPr>
        <p:spPr>
          <a:xfrm>
            <a:off x="8485632" y="4096512"/>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06</a:t>
            </a:r>
            <a:endParaRPr lang="en-US" sz="1500" dirty="0"/>
          </a:p>
        </p:txBody>
      </p:sp>
      <p:sp>
        <p:nvSpPr>
          <p:cNvPr id="33" name="Text 31"/>
          <p:cNvSpPr txBox="1"/>
          <p:nvPr/>
        </p:nvSpPr>
        <p:spPr>
          <a:xfrm>
            <a:off x="9162288" y="4133088"/>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REPORT</a:t>
            </a:r>
            <a:endParaRPr lang="en-US" sz="1700" dirty="0"/>
          </a:p>
        </p:txBody>
      </p:sp>
      <p:sp>
        <p:nvSpPr>
          <p:cNvPr id="34" name="Text 32"/>
          <p:cNvSpPr txBox="1"/>
          <p:nvPr/>
        </p:nvSpPr>
        <p:spPr>
          <a:xfrm>
            <a:off x="8485632" y="4791456"/>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Evidence Pack PDF: every scene id, model version and weight used.</a:t>
            </a:r>
            <a:endParaRPr lang="en-US" sz="1200" dirty="0"/>
          </a:p>
        </p:txBody>
      </p:sp>
      <p:sp>
        <p:nvSpPr>
          <p:cNvPr id="35" name="Text 33"/>
          <p:cNvSpPr txBox="1"/>
          <p:nvPr/>
        </p:nvSpPr>
        <p:spPr>
          <a:xfrm>
            <a:off x="566928" y="6382512"/>
            <a:ext cx="11057839" cy="256032"/>
          </a:xfrm>
          <a:prstGeom prst="rect">
            <a:avLst/>
          </a:prstGeom>
          <a:noFill/>
          <a:ln/>
        </p:spPr>
        <p:txBody>
          <a:bodyPr wrap="square" lIns="0" tIns="0" rIns="0" bIns="0" rtlCol="0" anchor="ctr"/>
          <a:lstStyle/>
          <a:p>
            <a:pPr marL="0" indent="0">
              <a:buNone/>
            </a:pPr>
            <a:r>
              <a:rPr lang="en-US" sz="950" i="1" dirty="0">
                <a:solidFill>
                  <a:srgbClr val="9FB3A9"/>
                </a:solidFill>
                <a:latin typeface="Calibri" pitchFamily="34" charset="0"/>
                <a:ea typeface="Calibri" pitchFamily="34" charset="-122"/>
                <a:cs typeface="Calibri" pitchFamily="34" charset="-120"/>
              </a:rPr>
              <a:t>Everything else in the product exists to serve these six steps. Anything that does not, we did not build.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SYSTEM ARCHITECTURE</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06</a:t>
            </a:r>
            <a:endParaRPr lang="en-US" sz="1050" dirty="0"/>
          </a:p>
        </p:txBody>
      </p:sp>
      <p:sp>
        <p:nvSpPr>
          <p:cNvPr id="4" name="Text 2"/>
          <p:cNvSpPr txBox="1"/>
          <p:nvPr/>
        </p:nvSpPr>
        <p:spPr>
          <a:xfrm>
            <a:off x="566928" y="566928"/>
            <a:ext cx="7178040" cy="457200"/>
          </a:xfrm>
          <a:prstGeom prst="rect">
            <a:avLst/>
          </a:prstGeom>
          <a:noFill/>
          <a:ln/>
        </p:spPr>
        <p:txBody>
          <a:bodyPr wrap="square" lIns="0" tIns="0" rIns="0" bIns="0" rtlCol="0" anchor="ctr"/>
          <a:lstStyle/>
          <a:p>
            <a:pPr marL="0" indent="0">
              <a:buNone/>
            </a:pPr>
            <a:r>
              <a:rPr lang="en-US" sz="2400" b="1" dirty="0">
                <a:solidFill>
                  <a:srgbClr val="0E1A16"/>
                </a:solidFill>
                <a:latin typeface="Cambria" pitchFamily="34" charset="0"/>
                <a:ea typeface="Cambria" pitchFamily="34" charset="-122"/>
                <a:cs typeface="Cambria" pitchFamily="34" charset="-120"/>
              </a:rPr>
              <a:t>Boring where it should be. Careful where it matters.</a:t>
            </a:r>
            <a:endParaRPr lang="en-US" sz="2400" dirty="0"/>
          </a:p>
        </p:txBody>
      </p:sp>
      <p:sp>
        <p:nvSpPr>
          <p:cNvPr id="5" name="Text 3"/>
          <p:cNvSpPr txBox="1"/>
          <p:nvPr/>
        </p:nvSpPr>
        <p:spPr>
          <a:xfrm>
            <a:off x="7818120" y="585216"/>
            <a:ext cx="3813048" cy="420624"/>
          </a:xfrm>
          <a:prstGeom prst="rect">
            <a:avLst/>
          </a:prstGeom>
          <a:noFill/>
          <a:ln/>
        </p:spPr>
        <p:txBody>
          <a:bodyPr wrap="square" lIns="0" tIns="0" rIns="0" bIns="0" rtlCol="0" anchor="ctr"/>
          <a:lstStyle/>
          <a:p>
            <a:pPr marL="0" indent="0" algn="r">
              <a:buNone/>
            </a:pPr>
            <a:r>
              <a:rPr lang="en-US" sz="1150" i="1" dirty="0">
                <a:solidFill>
                  <a:srgbClr val="55665D"/>
                </a:solidFill>
                <a:latin typeface="Calibri" pitchFamily="34" charset="0"/>
                <a:ea typeface="Calibri" pitchFamily="34" charset="-122"/>
                <a:cs typeface="Calibri" pitchFamily="34" charset="-120"/>
              </a:rPr>
              <a:t>The amber core has exactly two connections — a bundle in, a verdict out.</a:t>
            </a:r>
            <a:endParaRPr lang="en-US" sz="1150" dirty="0"/>
          </a:p>
        </p:txBody>
      </p:sp>
      <p:pic>
        <p:nvPicPr>
          <p:cNvPr id="6" name="Image 0" descr="PRAMAAN-fig1-runtime-architecture.png"/>
          <p:cNvPicPr>
            <a:picLocks noChangeAspect="1"/>
          </p:cNvPicPr>
          <p:nvPr/>
        </p:nvPicPr>
        <p:blipFill>
          <a:blip r:embed="rId3"/>
          <a:stretch>
            <a:fillRect/>
          </a:stretch>
        </p:blipFill>
        <p:spPr>
          <a:xfrm>
            <a:off x="1024128" y="1097280"/>
            <a:ext cx="10149840" cy="57058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THE RECONCILIATION MECHANISM</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07</a:t>
            </a:r>
            <a:endParaRPr lang="en-US" sz="1050" dirty="0"/>
          </a:p>
        </p:txBody>
      </p:sp>
      <p:sp>
        <p:nvSpPr>
          <p:cNvPr id="4" name="Text 2"/>
          <p:cNvSpPr txBox="1"/>
          <p:nvPr/>
        </p:nvSpPr>
        <p:spPr>
          <a:xfrm>
            <a:off x="566928" y="548640"/>
            <a:ext cx="11055096" cy="475488"/>
          </a:xfrm>
          <a:prstGeom prst="rect">
            <a:avLst/>
          </a:prstGeom>
          <a:noFill/>
          <a:ln/>
        </p:spPr>
        <p:txBody>
          <a:bodyPr wrap="square" lIns="0" tIns="0" rIns="0" bIns="0" rtlCol="0" anchor="ctr"/>
          <a:lstStyle/>
          <a:p>
            <a:pPr marL="0" indent="0">
              <a:buNone/>
            </a:pPr>
            <a:r>
              <a:rPr lang="en-US" sz="2400" b="1" dirty="0">
                <a:solidFill>
                  <a:srgbClr val="0E1A16"/>
                </a:solidFill>
                <a:latin typeface="Cambria" pitchFamily="34" charset="0"/>
                <a:ea typeface="Cambria" pitchFamily="34" charset="-122"/>
                <a:cs typeface="Cambria" pitchFamily="34" charset="-120"/>
              </a:rPr>
              <a:t>Inside the engine — and the one branch that removes an arrow.</a:t>
            </a:r>
            <a:endParaRPr lang="en-US" sz="2400" dirty="0"/>
          </a:p>
        </p:txBody>
      </p:sp>
      <p:pic>
        <p:nvPicPr>
          <p:cNvPr id="5" name="Image 0" descr="PRAMAAN-fig2-reconciliation-mechanism.png"/>
          <p:cNvPicPr>
            <a:picLocks noChangeAspect="1"/>
          </p:cNvPicPr>
          <p:nvPr/>
        </p:nvPicPr>
        <p:blipFill>
          <a:blip r:embed="rId3"/>
          <a:stretch>
            <a:fillRect/>
          </a:stretch>
        </p:blipFill>
        <p:spPr>
          <a:xfrm>
            <a:off x="457200" y="1170432"/>
            <a:ext cx="11274552" cy="5166360"/>
          </a:xfrm>
          <a:prstGeom prst="rect">
            <a:avLst/>
          </a:prstGeom>
        </p:spPr>
      </p:pic>
      <p:sp>
        <p:nvSpPr>
          <p:cNvPr id="6" name="Text 3"/>
          <p:cNvSpPr txBox="1"/>
          <p:nvPr/>
        </p:nvSpPr>
        <p:spPr>
          <a:xfrm>
            <a:off x="566928" y="6437376"/>
            <a:ext cx="11057839" cy="274320"/>
          </a:xfrm>
          <a:prstGeom prst="rect">
            <a:avLst/>
          </a:prstGeom>
          <a:noFill/>
          <a:ln/>
        </p:spPr>
        <p:txBody>
          <a:bodyPr wrap="square" lIns="0" tIns="0" rIns="0" bIns="0" rtlCol="0" anchor="ctr"/>
          <a:lstStyle/>
          <a:p>
            <a:pPr marL="0" indent="0">
              <a:buNone/>
            </a:pPr>
            <a:r>
              <a:rPr lang="en-US" sz="1100" i="1" dirty="0">
                <a:solidFill>
                  <a:srgbClr val="55665D"/>
                </a:solidFill>
                <a:latin typeface="Calibri" pitchFamily="34" charset="0"/>
                <a:ea typeface="Calibri" pitchFamily="34" charset="-122"/>
                <a:cs typeface="Calibri" pitchFamily="34" charset="-120"/>
              </a:rPr>
              <a:t>A 25 × 25 m farm pond is 625 m². One 30 m pixel is 900 m². The gate fails, and per-structure satellite evidence is switched off — visibly, in the UI and in the PDF.</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WHY IT HOLDS UP SCIENTIFICALLY</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08</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658"/>
              </a:lnSpc>
              <a:buNone/>
            </a:pPr>
            <a:r>
              <a:rPr lang="en-US" sz="3100" b="1" dirty="0">
                <a:solidFill>
                  <a:srgbClr val="0E1A16"/>
                </a:solidFill>
                <a:latin typeface="Cambria" pitchFamily="34" charset="0"/>
                <a:ea typeface="Cambria" pitchFamily="34" charset="-122"/>
                <a:cs typeface="Cambria" pitchFamily="34" charset="-120"/>
              </a:rPr>
              <a:t>Three ideas do the work. None of them is deep learning.</a:t>
            </a:r>
            <a:endParaRPr lang="en-US" sz="3100" dirty="0"/>
          </a:p>
        </p:txBody>
      </p:sp>
      <p:sp>
        <p:nvSpPr>
          <p:cNvPr id="5" name="Shape 3"/>
          <p:cNvSpPr/>
          <p:nvPr/>
        </p:nvSpPr>
        <p:spPr>
          <a:xfrm>
            <a:off x="566928" y="1627632"/>
            <a:ext cx="3566160" cy="4261104"/>
          </a:xfrm>
          <a:prstGeom prst="roundRect">
            <a:avLst>
              <a:gd name="adj" fmla="val 1538"/>
            </a:avLst>
          </a:prstGeom>
          <a:solidFill>
            <a:srgbClr val="FFFFFF"/>
          </a:solidFill>
          <a:ln w="12700">
            <a:solidFill>
              <a:srgbClr val="C4D0C8"/>
            </a:solidFill>
            <a:prstDash val="solid"/>
          </a:ln>
        </p:spPr>
      </p:sp>
      <p:sp>
        <p:nvSpPr>
          <p:cNvPr id="6" name="Shape 4"/>
          <p:cNvSpPr/>
          <p:nvPr/>
        </p:nvSpPr>
        <p:spPr>
          <a:xfrm>
            <a:off x="822960" y="1847088"/>
            <a:ext cx="603504" cy="603504"/>
          </a:xfrm>
          <a:prstGeom prst="ellipse">
            <a:avLst/>
          </a:prstGeom>
          <a:solidFill>
            <a:srgbClr val="2C5A4B"/>
          </a:solidFill>
          <a:ln w="12700">
            <a:solidFill>
              <a:srgbClr val="2C5A4B"/>
            </a:solidFill>
            <a:prstDash val="solid"/>
          </a:ln>
        </p:spPr>
      </p:sp>
      <p:sp>
        <p:nvSpPr>
          <p:cNvPr id="7" name="Text 5"/>
          <p:cNvSpPr txBox="1"/>
          <p:nvPr/>
        </p:nvSpPr>
        <p:spPr>
          <a:xfrm>
            <a:off x="822960" y="184708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01</a:t>
            </a:r>
            <a:endParaRPr lang="en-US" sz="1700" dirty="0"/>
          </a:p>
        </p:txBody>
      </p:sp>
      <p:sp>
        <p:nvSpPr>
          <p:cNvPr id="8" name="Text 6"/>
          <p:cNvSpPr txBox="1"/>
          <p:nvPr/>
        </p:nvSpPr>
        <p:spPr>
          <a:xfrm>
            <a:off x="822960" y="2615184"/>
            <a:ext cx="3054096" cy="566928"/>
          </a:xfrm>
          <a:prstGeom prst="rect">
            <a:avLst/>
          </a:prstGeom>
          <a:noFill/>
          <a:ln/>
        </p:spPr>
        <p:txBody>
          <a:bodyPr wrap="square" lIns="0" tIns="0" rIns="0" bIns="0" rtlCol="0" anchor="ctr"/>
          <a:lstStyle/>
          <a:p>
            <a:pPr marL="0" indent="0">
              <a:lnSpc>
                <a:spcPts val="2100"/>
              </a:lnSpc>
              <a:buNone/>
            </a:pPr>
            <a:r>
              <a:rPr lang="en-US" sz="1650" b="1" dirty="0">
                <a:solidFill>
                  <a:srgbClr val="0E1A16"/>
                </a:solidFill>
                <a:latin typeface="Cambria" pitchFamily="34" charset="0"/>
                <a:ea typeface="Cambria" pitchFamily="34" charset="-122"/>
                <a:cs typeface="Cambria" pitchFamily="34" charset="-120"/>
              </a:rPr>
              <a:t>MATCHED CONTROLS</a:t>
            </a:r>
            <a:endParaRPr lang="en-US" sz="1650" dirty="0"/>
          </a:p>
        </p:txBody>
      </p:sp>
      <p:sp>
        <p:nvSpPr>
          <p:cNvPr id="9" name="Text 7"/>
          <p:cNvSpPr txBox="1"/>
          <p:nvPr/>
        </p:nvSpPr>
        <p:spPr>
          <a:xfrm>
            <a:off x="822960" y="3255264"/>
            <a:ext cx="3054096" cy="1609344"/>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Every structure is scored against 5–12 automatically matched sites in the same sub-watershed — same slope, land cover, elevation and stream order, with no intervention.</a:t>
            </a:r>
            <a:endParaRPr lang="en-US" sz="1200" dirty="0"/>
          </a:p>
        </p:txBody>
      </p:sp>
      <p:sp>
        <p:nvSpPr>
          <p:cNvPr id="10" name="Shape 8"/>
          <p:cNvSpPr/>
          <p:nvPr/>
        </p:nvSpPr>
        <p:spPr>
          <a:xfrm>
            <a:off x="822960" y="4956048"/>
            <a:ext cx="3054096" cy="0"/>
          </a:xfrm>
          <a:prstGeom prst="line">
            <a:avLst/>
          </a:prstGeom>
          <a:noFill/>
          <a:ln w="12700">
            <a:solidFill>
              <a:srgbClr val="C4D0C8"/>
            </a:solidFill>
            <a:prstDash val="solid"/>
          </a:ln>
        </p:spPr>
      </p:sp>
      <p:sp>
        <p:nvSpPr>
          <p:cNvPr id="11" name="Text 9"/>
          <p:cNvSpPr txBox="1"/>
          <p:nvPr/>
        </p:nvSpPr>
        <p:spPr>
          <a:xfrm>
            <a:off x="822960" y="5065776"/>
            <a:ext cx="3054096" cy="694944"/>
          </a:xfrm>
          <a:prstGeom prst="rect">
            <a:avLst/>
          </a:prstGeom>
          <a:noFill/>
          <a:ln/>
        </p:spPr>
        <p:txBody>
          <a:bodyPr wrap="square" lIns="0" tIns="0" rIns="0" bIns="0" rtlCol="0" anchor="ctr"/>
          <a:lstStyle/>
          <a:p>
            <a:pPr marL="0" indent="0">
              <a:lnSpc>
                <a:spcPts val="1600"/>
              </a:lnSpc>
              <a:buNone/>
            </a:pPr>
            <a:r>
              <a:rPr lang="en-US" sz="1150" b="1" i="1" dirty="0">
                <a:solidFill>
                  <a:srgbClr val="2C5A4B"/>
                </a:solidFill>
                <a:latin typeface="Calibri" pitchFamily="34" charset="0"/>
                <a:ea typeface="Calibri" pitchFamily="34" charset="-122"/>
                <a:cs typeface="Calibri" pitchFamily="34" charset="-120"/>
              </a:rPr>
              <a:t>Same rainfall, same season. We measure the intervention, not the monsoon.</a:t>
            </a:r>
            <a:endParaRPr lang="en-US" sz="1150" dirty="0"/>
          </a:p>
        </p:txBody>
      </p:sp>
      <p:sp>
        <p:nvSpPr>
          <p:cNvPr id="12" name="Shape 10"/>
          <p:cNvSpPr/>
          <p:nvPr/>
        </p:nvSpPr>
        <p:spPr>
          <a:xfrm>
            <a:off x="4407408" y="1627632"/>
            <a:ext cx="3566160" cy="4261104"/>
          </a:xfrm>
          <a:prstGeom prst="roundRect">
            <a:avLst>
              <a:gd name="adj" fmla="val 1538"/>
            </a:avLst>
          </a:prstGeom>
          <a:solidFill>
            <a:srgbClr val="FFFFFF"/>
          </a:solidFill>
          <a:ln w="12700">
            <a:solidFill>
              <a:srgbClr val="C4D0C8"/>
            </a:solidFill>
            <a:prstDash val="solid"/>
          </a:ln>
        </p:spPr>
      </p:sp>
      <p:sp>
        <p:nvSpPr>
          <p:cNvPr id="13" name="Shape 11"/>
          <p:cNvSpPr/>
          <p:nvPr/>
        </p:nvSpPr>
        <p:spPr>
          <a:xfrm>
            <a:off x="4663440" y="1847088"/>
            <a:ext cx="603504" cy="603504"/>
          </a:xfrm>
          <a:prstGeom prst="ellipse">
            <a:avLst/>
          </a:prstGeom>
          <a:solidFill>
            <a:srgbClr val="146275"/>
          </a:solidFill>
          <a:ln w="12700">
            <a:solidFill>
              <a:srgbClr val="146275"/>
            </a:solidFill>
            <a:prstDash val="solid"/>
          </a:ln>
        </p:spPr>
      </p:sp>
      <p:sp>
        <p:nvSpPr>
          <p:cNvPr id="14" name="Text 12"/>
          <p:cNvSpPr txBox="1"/>
          <p:nvPr/>
        </p:nvSpPr>
        <p:spPr>
          <a:xfrm>
            <a:off x="4663440" y="184708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02</a:t>
            </a:r>
            <a:endParaRPr lang="en-US" sz="1700" dirty="0"/>
          </a:p>
        </p:txBody>
      </p:sp>
      <p:sp>
        <p:nvSpPr>
          <p:cNvPr id="15" name="Text 13"/>
          <p:cNvSpPr txBox="1"/>
          <p:nvPr/>
        </p:nvSpPr>
        <p:spPr>
          <a:xfrm>
            <a:off x="4663440" y="2615184"/>
            <a:ext cx="3054096" cy="566928"/>
          </a:xfrm>
          <a:prstGeom prst="rect">
            <a:avLst/>
          </a:prstGeom>
          <a:noFill/>
          <a:ln/>
        </p:spPr>
        <p:txBody>
          <a:bodyPr wrap="square" lIns="0" tIns="0" rIns="0" bIns="0" rtlCol="0" anchor="ctr"/>
          <a:lstStyle/>
          <a:p>
            <a:pPr marL="0" indent="0">
              <a:lnSpc>
                <a:spcPts val="2100"/>
              </a:lnSpc>
              <a:buNone/>
            </a:pPr>
            <a:r>
              <a:rPr lang="en-US" sz="1650" b="1" dirty="0">
                <a:solidFill>
                  <a:srgbClr val="0E1A16"/>
                </a:solidFill>
                <a:latin typeface="Cambria" pitchFamily="34" charset="0"/>
                <a:ea typeface="Cambria" pitchFamily="34" charset="-122"/>
                <a:cs typeface="Cambria" pitchFamily="34" charset="-120"/>
              </a:rPr>
              <a:t>TERRAIN PLAUSIBILITY</a:t>
            </a:r>
            <a:endParaRPr lang="en-US" sz="1650" dirty="0"/>
          </a:p>
        </p:txBody>
      </p:sp>
      <p:sp>
        <p:nvSpPr>
          <p:cNvPr id="16" name="Text 14"/>
          <p:cNvSpPr txBox="1"/>
          <p:nvPr/>
        </p:nvSpPr>
        <p:spPr>
          <a:xfrm>
            <a:off x="4663440" y="3255264"/>
            <a:ext cx="3054096" cy="1609344"/>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A check dam claimed on a ridge with 12 cells of flow accumulation is flagged before any model runs, from DEM-derived flow accumulation, Strahler order and slope.</a:t>
            </a:r>
            <a:endParaRPr lang="en-US" sz="1200" dirty="0"/>
          </a:p>
        </p:txBody>
      </p:sp>
      <p:sp>
        <p:nvSpPr>
          <p:cNvPr id="17" name="Shape 15"/>
          <p:cNvSpPr/>
          <p:nvPr/>
        </p:nvSpPr>
        <p:spPr>
          <a:xfrm>
            <a:off x="4663440" y="4956048"/>
            <a:ext cx="3054096" cy="0"/>
          </a:xfrm>
          <a:prstGeom prst="line">
            <a:avLst/>
          </a:prstGeom>
          <a:noFill/>
          <a:ln w="12700">
            <a:solidFill>
              <a:srgbClr val="C4D0C8"/>
            </a:solidFill>
            <a:prstDash val="solid"/>
          </a:ln>
        </p:spPr>
      </p:sp>
      <p:sp>
        <p:nvSpPr>
          <p:cNvPr id="18" name="Text 16"/>
          <p:cNvSpPr txBox="1"/>
          <p:nvPr/>
        </p:nvSpPr>
        <p:spPr>
          <a:xfrm>
            <a:off x="4663440" y="5065776"/>
            <a:ext cx="3054096" cy="694944"/>
          </a:xfrm>
          <a:prstGeom prst="rect">
            <a:avLst/>
          </a:prstGeom>
          <a:noFill/>
          <a:ln/>
        </p:spPr>
        <p:txBody>
          <a:bodyPr wrap="square" lIns="0" tIns="0" rIns="0" bIns="0" rtlCol="0" anchor="ctr"/>
          <a:lstStyle/>
          <a:p>
            <a:pPr marL="0" indent="0">
              <a:lnSpc>
                <a:spcPts val="1600"/>
              </a:lnSpc>
              <a:buNone/>
            </a:pPr>
            <a:r>
              <a:rPr lang="en-US" sz="1150" b="1" i="1" dirty="0">
                <a:solidFill>
                  <a:srgbClr val="146275"/>
                </a:solidFill>
                <a:latin typeface="Calibri" pitchFamily="34" charset="0"/>
                <a:ea typeface="Calibri" pitchFamily="34" charset="-122"/>
                <a:cs typeface="Calibri" pitchFamily="34" charset="-120"/>
              </a:rPr>
              <a:t>Deterministic. Zero training data. Explainable to an auditor in one line.</a:t>
            </a:r>
            <a:endParaRPr lang="en-US" sz="1150" dirty="0"/>
          </a:p>
        </p:txBody>
      </p:sp>
      <p:sp>
        <p:nvSpPr>
          <p:cNvPr id="19" name="Shape 17"/>
          <p:cNvSpPr/>
          <p:nvPr/>
        </p:nvSpPr>
        <p:spPr>
          <a:xfrm>
            <a:off x="8247888" y="1627632"/>
            <a:ext cx="3566160" cy="4261104"/>
          </a:xfrm>
          <a:prstGeom prst="roundRect">
            <a:avLst>
              <a:gd name="adj" fmla="val 1538"/>
            </a:avLst>
          </a:prstGeom>
          <a:solidFill>
            <a:srgbClr val="FFFFFF"/>
          </a:solidFill>
          <a:ln w="12700">
            <a:solidFill>
              <a:srgbClr val="C4D0C8"/>
            </a:solidFill>
            <a:prstDash val="solid"/>
          </a:ln>
        </p:spPr>
      </p:sp>
      <p:sp>
        <p:nvSpPr>
          <p:cNvPr id="20" name="Shape 18"/>
          <p:cNvSpPr/>
          <p:nvPr/>
        </p:nvSpPr>
        <p:spPr>
          <a:xfrm>
            <a:off x="8503920" y="1847088"/>
            <a:ext cx="603504" cy="603504"/>
          </a:xfrm>
          <a:prstGeom prst="ellipse">
            <a:avLst/>
          </a:prstGeom>
          <a:solidFill>
            <a:srgbClr val="92321F"/>
          </a:solidFill>
          <a:ln w="12700">
            <a:solidFill>
              <a:srgbClr val="92321F"/>
            </a:solidFill>
            <a:prstDash val="solid"/>
          </a:ln>
        </p:spPr>
      </p:sp>
      <p:sp>
        <p:nvSpPr>
          <p:cNvPr id="21" name="Text 19"/>
          <p:cNvSpPr txBox="1"/>
          <p:nvPr/>
        </p:nvSpPr>
        <p:spPr>
          <a:xfrm>
            <a:off x="8503920" y="184708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03</a:t>
            </a:r>
            <a:endParaRPr lang="en-US" sz="1700" dirty="0"/>
          </a:p>
        </p:txBody>
      </p:sp>
      <p:sp>
        <p:nvSpPr>
          <p:cNvPr id="22" name="Text 20"/>
          <p:cNvSpPr txBox="1"/>
          <p:nvPr/>
        </p:nvSpPr>
        <p:spPr>
          <a:xfrm>
            <a:off x="8503920" y="2615184"/>
            <a:ext cx="3054096" cy="566928"/>
          </a:xfrm>
          <a:prstGeom prst="rect">
            <a:avLst/>
          </a:prstGeom>
          <a:noFill/>
          <a:ln/>
        </p:spPr>
        <p:txBody>
          <a:bodyPr wrap="square" lIns="0" tIns="0" rIns="0" bIns="0" rtlCol="0" anchor="ctr"/>
          <a:lstStyle/>
          <a:p>
            <a:pPr marL="0" indent="0">
              <a:lnSpc>
                <a:spcPts val="2100"/>
              </a:lnSpc>
              <a:buNone/>
            </a:pPr>
            <a:r>
              <a:rPr lang="en-US" sz="1650" b="1" dirty="0">
                <a:solidFill>
                  <a:srgbClr val="0E1A16"/>
                </a:solidFill>
                <a:latin typeface="Cambria" pitchFamily="34" charset="0"/>
                <a:ea typeface="Cambria" pitchFamily="34" charset="-122"/>
                <a:cs typeface="Cambria" pitchFamily="34" charset="-120"/>
              </a:rPr>
              <a:t>THE DETECTABILITY GATE</a:t>
            </a:r>
            <a:endParaRPr lang="en-US" sz="1650" dirty="0"/>
          </a:p>
        </p:txBody>
      </p:sp>
      <p:sp>
        <p:nvSpPr>
          <p:cNvPr id="23" name="Text 21"/>
          <p:cNvSpPr txBox="1"/>
          <p:nvPr/>
        </p:nvSpPr>
        <p:spPr>
          <a:xfrm>
            <a:off x="8503920" y="3255264"/>
            <a:ext cx="3054096" cy="1609344"/>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Footprint is compared to sensor resolution first. Below one pixel, per-structure satellite evidence is disabled and the claim escalates to a cluster.</a:t>
            </a:r>
            <a:endParaRPr lang="en-US" sz="1200" dirty="0"/>
          </a:p>
        </p:txBody>
      </p:sp>
      <p:sp>
        <p:nvSpPr>
          <p:cNvPr id="24" name="Shape 22"/>
          <p:cNvSpPr/>
          <p:nvPr/>
        </p:nvSpPr>
        <p:spPr>
          <a:xfrm>
            <a:off x="8503920" y="4956048"/>
            <a:ext cx="3054096" cy="0"/>
          </a:xfrm>
          <a:prstGeom prst="line">
            <a:avLst/>
          </a:prstGeom>
          <a:noFill/>
          <a:ln w="12700">
            <a:solidFill>
              <a:srgbClr val="C4D0C8"/>
            </a:solidFill>
            <a:prstDash val="solid"/>
          </a:ln>
        </p:spPr>
      </p:sp>
      <p:sp>
        <p:nvSpPr>
          <p:cNvPr id="25" name="Text 23"/>
          <p:cNvSpPr txBox="1"/>
          <p:nvPr/>
        </p:nvSpPr>
        <p:spPr>
          <a:xfrm>
            <a:off x="8503920" y="5065776"/>
            <a:ext cx="3054096" cy="694944"/>
          </a:xfrm>
          <a:prstGeom prst="rect">
            <a:avLst/>
          </a:prstGeom>
          <a:noFill/>
          <a:ln/>
        </p:spPr>
        <p:txBody>
          <a:bodyPr wrap="square" lIns="0" tIns="0" rIns="0" bIns="0" rtlCol="0" anchor="ctr"/>
          <a:lstStyle/>
          <a:p>
            <a:pPr marL="0" indent="0">
              <a:lnSpc>
                <a:spcPts val="1600"/>
              </a:lnSpc>
              <a:buNone/>
            </a:pPr>
            <a:r>
              <a:rPr lang="en-US" sz="1150" b="1" i="1" dirty="0">
                <a:solidFill>
                  <a:srgbClr val="92321F"/>
                </a:solidFill>
                <a:latin typeface="Calibri" pitchFamily="34" charset="0"/>
                <a:ea typeface="Calibri" pitchFamily="34" charset="-122"/>
                <a:cs typeface="Calibri" pitchFamily="34" charset="-120"/>
              </a:rPr>
              <a:t>A system that refuses to answer is one you can trust when it does.</a:t>
            </a:r>
            <a:endParaRPr lang="en-US" sz="1150" dirty="0"/>
          </a:p>
        </p:txBody>
      </p:sp>
      <p:sp>
        <p:nvSpPr>
          <p:cNvPr id="26" name="Text 24"/>
          <p:cNvSpPr txBox="1"/>
          <p:nvPr/>
        </p:nvSpPr>
        <p:spPr>
          <a:xfrm>
            <a:off x="566928" y="6382512"/>
            <a:ext cx="11057839" cy="256032"/>
          </a:xfrm>
          <a:prstGeom prst="rect">
            <a:avLst/>
          </a:prstGeom>
          <a:noFill/>
          <a:ln/>
        </p:spPr>
        <p:txBody>
          <a:bodyPr wrap="square" lIns="0" tIns="0" rIns="0" bIns="0" rtlCol="0" anchor="ctr"/>
          <a:lstStyle/>
          <a:p>
            <a:pPr marL="0" indent="0">
              <a:buNone/>
            </a:pPr>
            <a:r>
              <a:rPr lang="en-US" sz="950" i="1" dirty="0">
                <a:solidFill>
                  <a:srgbClr val="9FB3A9"/>
                </a:solidFill>
                <a:latin typeface="Calibri" pitchFamily="34" charset="0"/>
                <a:ea typeface="Calibri" pitchFamily="34" charset="-122"/>
                <a:cs typeface="Calibri" pitchFamily="34" charset="-120"/>
              </a:rPr>
              <a:t>AI appears in exactly one of the five evidence families — a zero-shot vision-language model, chosen because no labelled Indian watershed photo corpus exists.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DEMO &amp; RESULTS</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09</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One real claim, run end to end on real data.</a:t>
            </a:r>
            <a:endParaRPr lang="en-US" sz="3300" dirty="0"/>
          </a:p>
        </p:txBody>
      </p:sp>
      <p:sp>
        <p:nvSpPr>
          <p:cNvPr id="5" name="Shape 3"/>
          <p:cNvSpPr/>
          <p:nvPr/>
        </p:nvSpPr>
        <p:spPr>
          <a:xfrm>
            <a:off x="566928" y="1609344"/>
            <a:ext cx="5440680" cy="2231136"/>
          </a:xfrm>
          <a:prstGeom prst="roundRect">
            <a:avLst>
              <a:gd name="adj" fmla="val 2459"/>
            </a:avLst>
          </a:prstGeom>
          <a:solidFill>
            <a:srgbClr val="FFFFFF"/>
          </a:solidFill>
          <a:ln w="12700">
            <a:solidFill>
              <a:srgbClr val="C4D0C8"/>
            </a:solidFill>
            <a:prstDash val="solid"/>
          </a:ln>
        </p:spPr>
      </p:sp>
      <p:sp>
        <p:nvSpPr>
          <p:cNvPr id="6" name="Shape 4"/>
          <p:cNvSpPr/>
          <p:nvPr/>
        </p:nvSpPr>
        <p:spPr>
          <a:xfrm>
            <a:off x="804672" y="1810512"/>
            <a:ext cx="2514600" cy="365760"/>
          </a:xfrm>
          <a:prstGeom prst="roundRect">
            <a:avLst>
              <a:gd name="adj" fmla="val 50000"/>
            </a:avLst>
          </a:prstGeom>
          <a:solidFill>
            <a:srgbClr val="B07D1E"/>
          </a:solidFill>
          <a:ln w="12700">
            <a:solidFill>
              <a:srgbClr val="2F7D5F"/>
            </a:solidFill>
            <a:prstDash val="solid"/>
          </a:ln>
        </p:spPr>
      </p:sp>
      <p:sp>
        <p:nvSpPr>
          <p:cNvPr id="7" name="Text 5"/>
          <p:cNvSpPr txBox="1"/>
          <p:nvPr/>
        </p:nvSpPr>
        <p:spPr>
          <a:xfrm>
            <a:off x="804672" y="1810512"/>
            <a:ext cx="251460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INCONCLUSIVE · N1</a:t>
            </a:r>
            <a:endParaRPr lang="en-US" sz="1050" dirty="0"/>
          </a:p>
        </p:txBody>
      </p:sp>
      <p:sp>
        <p:nvSpPr>
          <p:cNvPr id="8" name="Text 6"/>
          <p:cNvSpPr txBox="1"/>
          <p:nvPr/>
        </p:nvSpPr>
        <p:spPr>
          <a:xfrm>
            <a:off x="3447288" y="1810512"/>
            <a:ext cx="2194560" cy="365760"/>
          </a:xfrm>
          <a:prstGeom prst="rect">
            <a:avLst/>
          </a:prstGeom>
          <a:noFill/>
          <a:ln/>
        </p:spPr>
        <p:txBody>
          <a:bodyPr wrap="square" lIns="0" tIns="0" rIns="0" bIns="0" rtlCol="0" anchor="ctr"/>
          <a:lstStyle/>
          <a:p>
            <a:pPr marL="0" indent="0">
              <a:buNone/>
            </a:pPr>
            <a:r>
              <a:rPr lang="en-US" sz="1150" dirty="0">
                <a:solidFill>
                  <a:srgbClr val="55665D"/>
                </a:solidFill>
                <a:latin typeface="Calibri" pitchFamily="34" charset="0"/>
                <a:ea typeface="Calibri" pitchFamily="34" charset="-122"/>
                <a:cs typeface="Calibri" pitchFamily="34" charset="-120"/>
              </a:rPr>
              <a:t>confidence 0.0615</a:t>
            </a:r>
            <a:endParaRPr lang="en-US" sz="1150" dirty="0"/>
          </a:p>
        </p:txBody>
      </p:sp>
      <p:sp>
        <p:nvSpPr>
          <p:cNvPr id="9" name="Text 7"/>
          <p:cNvSpPr txBox="1"/>
          <p:nvPr/>
        </p:nvSpPr>
        <p:spPr>
          <a:xfrm>
            <a:off x="804672" y="2304288"/>
            <a:ext cx="4937760" cy="25603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Check dam · claimed complete 20-Nov-2023 · Marathwada · REAL DATA</a:t>
            </a:r>
            <a:endParaRPr lang="en-US" sz="1150" dirty="0"/>
          </a:p>
        </p:txBody>
      </p:sp>
      <p:sp>
        <p:nvSpPr>
          <p:cNvPr id="10" name="Text 8"/>
          <p:cNvSpPr txBox="1"/>
          <p:nvPr/>
        </p:nvSpPr>
        <p:spPr>
          <a:xfrm>
            <a:off x="804672" y="2615184"/>
            <a:ext cx="4937760" cy="1051560"/>
          </a:xfrm>
          <a:prstGeom prst="rect">
            <a:avLst/>
          </a:prstGeom>
          <a:noFill/>
          <a:ln/>
        </p:spPr>
        <p:txBody>
          <a:bodyPr wrap="square" lIns="0" tIns="0" rIns="0" bIns="0" rtlCol="0" anchor="ctr"/>
          <a:lstStyle/>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Satellite: 40 cloud-screened NASA HLS granules · 10 seasonal composites over 5 years · rabi NDVI +0.1157 across the claim date</a:t>
            </a:r>
            <a:endParaRPr lang="en-US" sz="1100" dirty="0"/>
          </a:p>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Controls: 12 sites matched on real NASADEM terrain rose a median +0.0901. The site sits at the 75th percentile — inside the band. Differenced +0.026</a:t>
            </a:r>
            <a:endParaRPr lang="en-US" sz="1100" dirty="0"/>
          </a:p>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Terrain: Strahler order 0, 277 m from any drainage line — implausible siting for a check dam. The engine names the conflict instead of averaging it</a:t>
            </a:r>
            <a:endParaRPr lang="en-US" sz="1100" dirty="0"/>
          </a:p>
        </p:txBody>
      </p:sp>
      <p:sp>
        <p:nvSpPr>
          <p:cNvPr id="11" name="Shape 9"/>
          <p:cNvSpPr/>
          <p:nvPr/>
        </p:nvSpPr>
        <p:spPr>
          <a:xfrm>
            <a:off x="6263640" y="1609344"/>
            <a:ext cx="5358384" cy="2231136"/>
          </a:xfrm>
          <a:prstGeom prst="roundRect">
            <a:avLst>
              <a:gd name="adj" fmla="val 2459"/>
            </a:avLst>
          </a:prstGeom>
          <a:solidFill>
            <a:srgbClr val="FFFFFF"/>
          </a:solidFill>
          <a:ln w="12700">
            <a:solidFill>
              <a:srgbClr val="C4D0C8"/>
            </a:solidFill>
            <a:prstDash val="solid"/>
          </a:ln>
        </p:spPr>
      </p:sp>
      <p:sp>
        <p:nvSpPr>
          <p:cNvPr id="12" name="Shape 10"/>
          <p:cNvSpPr/>
          <p:nvPr/>
        </p:nvSpPr>
        <p:spPr>
          <a:xfrm>
            <a:off x="6501384" y="1810512"/>
            <a:ext cx="3063240" cy="365760"/>
          </a:xfrm>
          <a:prstGeom prst="roundRect">
            <a:avLst>
              <a:gd name="adj" fmla="val 50000"/>
            </a:avLst>
          </a:prstGeom>
          <a:solidFill>
            <a:srgbClr val="92321F"/>
          </a:solidFill>
          <a:ln w="12700">
            <a:solidFill>
              <a:srgbClr val="92321F"/>
            </a:solidFill>
            <a:prstDash val="solid"/>
          </a:ln>
        </p:spPr>
      </p:sp>
      <p:sp>
        <p:nvSpPr>
          <p:cNvPr id="13" name="Text 11"/>
          <p:cNvSpPr txBox="1"/>
          <p:nvPr/>
        </p:nvSpPr>
        <p:spPr>
          <a:xfrm>
            <a:off x="6501384" y="1810512"/>
            <a:ext cx="306324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REQUIRES VERIFICATION · N3</a:t>
            </a:r>
            <a:endParaRPr lang="en-US" sz="1050" dirty="0"/>
          </a:p>
        </p:txBody>
      </p:sp>
      <p:sp>
        <p:nvSpPr>
          <p:cNvPr id="14" name="Text 12"/>
          <p:cNvSpPr txBox="1"/>
          <p:nvPr/>
        </p:nvSpPr>
        <p:spPr>
          <a:xfrm>
            <a:off x="9692640" y="1810512"/>
            <a:ext cx="1737360" cy="365760"/>
          </a:xfrm>
          <a:prstGeom prst="rect">
            <a:avLst/>
          </a:prstGeom>
          <a:noFill/>
          <a:ln/>
        </p:spPr>
        <p:txBody>
          <a:bodyPr wrap="square" lIns="0" tIns="0" rIns="0" bIns="0" rtlCol="0" anchor="ctr"/>
          <a:lstStyle/>
          <a:p>
            <a:pPr marL="0" indent="0">
              <a:buNone/>
            </a:pPr>
            <a:r>
              <a:rPr lang="en-US" sz="1150" dirty="0">
                <a:solidFill>
                  <a:srgbClr val="55665D"/>
                </a:solidFill>
                <a:latin typeface="Calibri" pitchFamily="34" charset="0"/>
                <a:ea typeface="Calibri" pitchFamily="34" charset="-122"/>
                <a:cs typeface="Calibri" pitchFamily="34" charset="-120"/>
              </a:rPr>
              <a:t>confidence 0.3371</a:t>
            </a:r>
            <a:endParaRPr lang="en-US" sz="1150" dirty="0"/>
          </a:p>
        </p:txBody>
      </p:sp>
      <p:sp>
        <p:nvSpPr>
          <p:cNvPr id="15" name="Text 13"/>
          <p:cNvSpPr txBox="1"/>
          <p:nvPr/>
        </p:nvSpPr>
        <p:spPr>
          <a:xfrm>
            <a:off x="6501384" y="2304288"/>
            <a:ext cx="4846320" cy="25603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Farm pond · golden case 21 · SYNTHETIC INPUTS, ENGINE-COMPUTED</a:t>
            </a:r>
            <a:endParaRPr lang="en-US" sz="1150" dirty="0"/>
          </a:p>
        </p:txBody>
      </p:sp>
      <p:sp>
        <p:nvSpPr>
          <p:cNvPr id="16" name="Text 14"/>
          <p:cNvSpPr txBox="1"/>
          <p:nvPr/>
        </p:nvSpPr>
        <p:spPr>
          <a:xfrm>
            <a:off x="6501384" y="2615184"/>
            <a:ext cx="4846320" cy="1051560"/>
          </a:xfrm>
          <a:prstGeom prst="rect">
            <a:avLst/>
          </a:prstGeom>
          <a:noFill/>
          <a:ln/>
        </p:spPr>
        <p:txBody>
          <a:bodyPr wrap="square" lIns="0" tIns="0" rIns="0" bIns="0" rtlCol="0" anchor="ctr"/>
          <a:lstStyle/>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Terrain: 12 cells of flow accumulation, 340 m from any channel — no runoff reaches it. A deterministic rule, not a model, drives this verdict</a:t>
            </a:r>
            <a:endParaRPr lang="en-US" sz="1100" dirty="0"/>
          </a:p>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Detectability gate FAILED: a 625 m² footprint against a 900 m² pixel. Per-structure satellite evidence is disabled, and the verdict is reached via the named N3_TERRAIN_PATH</a:t>
            </a:r>
            <a:endParaRPr lang="en-US" sz="1100" dirty="0"/>
          </a:p>
        </p:txBody>
      </p:sp>
      <p:sp>
        <p:nvSpPr>
          <p:cNvPr id="17" name="Shape 15"/>
          <p:cNvSpPr/>
          <p:nvPr/>
        </p:nvSpPr>
        <p:spPr>
          <a:xfrm>
            <a:off x="566928" y="4041648"/>
            <a:ext cx="11057839" cy="402336"/>
          </a:xfrm>
          <a:prstGeom prst="roundRect">
            <a:avLst>
              <a:gd name="adj" fmla="val 13636"/>
            </a:avLst>
          </a:prstGeom>
          <a:solidFill>
            <a:srgbClr val="FBEDE9"/>
          </a:solidFill>
          <a:ln w="12700">
            <a:solidFill>
              <a:srgbClr val="92321F"/>
            </a:solidFill>
            <a:prstDash val="solid"/>
          </a:ln>
        </p:spPr>
      </p:sp>
      <p:sp>
        <p:nvSpPr>
          <p:cNvPr id="18" name="Text 16"/>
          <p:cNvSpPr txBox="1"/>
          <p:nvPr/>
        </p:nvSpPr>
        <p:spPr>
          <a:xfrm>
            <a:off x="566928" y="4041648"/>
            <a:ext cx="11057839" cy="402336"/>
          </a:xfrm>
          <a:prstGeom prst="rect">
            <a:avLst/>
          </a:prstGeom>
          <a:noFill/>
          <a:ln/>
        </p:spPr>
        <p:txBody>
          <a:bodyPr wrap="square" lIns="0" tIns="0" rIns="0" bIns="0" rtlCol="0" anchor="ctr"/>
          <a:lstStyle/>
          <a:p>
            <a:pPr marL="0" indent="0" algn="ctr">
              <a:buNone/>
            </a:pPr>
            <a:r>
              <a:rPr lang="en-US" sz="950" b="1" dirty="0">
                <a:solidFill>
                  <a:srgbClr val="92321F"/>
                </a:solidFill>
                <a:latin typeface="Calibri" pitchFamily="34" charset="0"/>
                <a:ea typeface="Calibri" pitchFamily="34" charset="-122"/>
                <a:cs typeface="Calibri" pitchFamily="34" charset="-120"/>
              </a:rPr>
              <a:t>MEASURED, NOT CLAIMED — every figure below was measured on this build and is re-runnable from the repository.   NOT MEASURED YET: adjudication-time A/B test · photo-model precision/recall · calibration error (ECE) · terrain-screen precision. Where a number does not exist, this deck says so.</a:t>
            </a:r>
            <a:endParaRPr lang="en-US" sz="1100" dirty="0"/>
          </a:p>
        </p:txBody>
      </p:sp>
      <p:sp>
        <p:nvSpPr>
          <p:cNvPr id="19" name="Shape 17"/>
          <p:cNvSpPr/>
          <p:nvPr/>
        </p:nvSpPr>
        <p:spPr>
          <a:xfrm>
            <a:off x="566928" y="4608576"/>
            <a:ext cx="11057839" cy="347472"/>
          </a:xfrm>
          <a:prstGeom prst="rect">
            <a:avLst/>
          </a:prstGeom>
          <a:solidFill>
            <a:srgbClr val="FFFFFF"/>
          </a:solidFill>
          <a:ln w="6350">
            <a:solidFill>
              <a:srgbClr val="C4D0C8"/>
            </a:solidFill>
            <a:prstDash val="solid"/>
          </a:ln>
        </p:spPr>
      </p:sp>
      <p:sp>
        <p:nvSpPr>
          <p:cNvPr id="20" name="Text 18"/>
          <p:cNvSpPr txBox="1"/>
          <p:nvPr/>
        </p:nvSpPr>
        <p:spPr>
          <a:xfrm>
            <a:off x="731520" y="4608576"/>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Engine throughput</a:t>
            </a:r>
            <a:endParaRPr lang="en-US" sz="1150" dirty="0"/>
          </a:p>
        </p:txBody>
      </p:sp>
      <p:sp>
        <p:nvSpPr>
          <p:cNvPr id="21" name="Text 19"/>
          <p:cNvSpPr txBox="1"/>
          <p:nvPr/>
        </p:nvSpPr>
        <p:spPr>
          <a:xfrm>
            <a:off x="3447288" y="4608576"/>
            <a:ext cx="1828800" cy="347472"/>
          </a:xfrm>
          <a:prstGeom prst="rect">
            <a:avLst/>
          </a:prstGeom>
          <a:noFill/>
          <a:ln/>
        </p:spPr>
        <p:txBody>
          <a:bodyPr wrap="square" lIns="0" tIns="0" rIns="0" bIns="0" rtlCol="0" anchor="ctr"/>
          <a:lstStyle/>
          <a:p>
            <a:pPr marL="0" indent="0">
              <a:buNone/>
            </a:pPr>
            <a:r>
              <a:rPr lang="en-US" sz="1150" b="1" dirty="0">
                <a:solidFill>
                  <a:srgbClr val="2C5A4B"/>
                </a:solidFill>
                <a:latin typeface="Cambria" pitchFamily="34" charset="0"/>
                <a:ea typeface="Cambria" pitchFamily="34" charset="-122"/>
                <a:cs typeface="Cambria" pitchFamily="34" charset="-120"/>
              </a:rPr>
              <a:t>~13 µs / verdict</a:t>
            </a:r>
            <a:endParaRPr lang="en-US" sz="1300" dirty="0"/>
          </a:p>
        </p:txBody>
      </p:sp>
      <p:sp>
        <p:nvSpPr>
          <p:cNvPr id="22" name="Text 20"/>
          <p:cNvSpPr txBox="1"/>
          <p:nvPr/>
        </p:nvSpPr>
        <p:spPr>
          <a:xfrm>
            <a:off x="5367528" y="4608576"/>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1,24,830 structures in under 2 s · one district of 1,200 works in 16 ms</a:t>
            </a:r>
            <a:endParaRPr lang="en-US" sz="1100" dirty="0"/>
          </a:p>
        </p:txBody>
      </p:sp>
      <p:sp>
        <p:nvSpPr>
          <p:cNvPr id="23" name="Shape 21"/>
          <p:cNvSpPr/>
          <p:nvPr/>
        </p:nvSpPr>
        <p:spPr>
          <a:xfrm>
            <a:off x="566928" y="4956048"/>
            <a:ext cx="11057839" cy="347472"/>
          </a:xfrm>
          <a:prstGeom prst="rect">
            <a:avLst/>
          </a:prstGeom>
          <a:solidFill>
            <a:srgbClr val="E7EDE9"/>
          </a:solidFill>
          <a:ln w="6350">
            <a:solidFill>
              <a:srgbClr val="C4D0C8"/>
            </a:solidFill>
            <a:prstDash val="solid"/>
          </a:ln>
        </p:spPr>
      </p:sp>
      <p:sp>
        <p:nvSpPr>
          <p:cNvPr id="24" name="Text 22"/>
          <p:cNvSpPr txBox="1"/>
          <p:nvPr/>
        </p:nvSpPr>
        <p:spPr>
          <a:xfrm>
            <a:off x="731520" y="4956048"/>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Test suite</a:t>
            </a:r>
            <a:endParaRPr lang="en-US" sz="1150" dirty="0"/>
          </a:p>
        </p:txBody>
      </p:sp>
      <p:sp>
        <p:nvSpPr>
          <p:cNvPr id="25" name="Text 23"/>
          <p:cNvSpPr txBox="1"/>
          <p:nvPr/>
        </p:nvSpPr>
        <p:spPr>
          <a:xfrm>
            <a:off x="3447288" y="4956048"/>
            <a:ext cx="1828800" cy="347472"/>
          </a:xfrm>
          <a:prstGeom prst="rect">
            <a:avLst/>
          </a:prstGeom>
          <a:noFill/>
          <a:ln/>
        </p:spPr>
        <p:txBody>
          <a:bodyPr wrap="square" lIns="0" tIns="0" rIns="0" bIns="0" rtlCol="0" anchor="ctr"/>
          <a:lstStyle/>
          <a:p>
            <a:pPr marL="0" indent="0">
              <a:buNone/>
            </a:pPr>
            <a:r>
              <a:rPr lang="en-US" sz="1150" b="1" dirty="0">
                <a:solidFill>
                  <a:srgbClr val="2C5A4B"/>
                </a:solidFill>
                <a:latin typeface="Cambria" pitchFamily="34" charset="0"/>
                <a:ea typeface="Cambria" pitchFamily="34" charset="-122"/>
                <a:cs typeface="Cambria" pitchFamily="34" charset="-120"/>
              </a:rPr>
              <a:t>458 tests · 100 %</a:t>
            </a:r>
            <a:endParaRPr lang="en-US" sz="1300" dirty="0"/>
          </a:p>
        </p:txBody>
      </p:sp>
      <p:sp>
        <p:nvSpPr>
          <p:cNvPr id="26" name="Text 24"/>
          <p:cNvSpPr txBox="1"/>
          <p:nvPr/>
        </p:nvSpPr>
        <p:spPr>
          <a:xfrm>
            <a:off x="5367528" y="4956048"/>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branch coverage on the deterministic core · 23 golden cases, all 8 levels</a:t>
            </a:r>
            <a:endParaRPr lang="en-US" sz="1100" dirty="0"/>
          </a:p>
        </p:txBody>
      </p:sp>
      <p:sp>
        <p:nvSpPr>
          <p:cNvPr id="27" name="Shape 25"/>
          <p:cNvSpPr/>
          <p:nvPr/>
        </p:nvSpPr>
        <p:spPr>
          <a:xfrm>
            <a:off x="566928" y="5303520"/>
            <a:ext cx="11057839" cy="347472"/>
          </a:xfrm>
          <a:prstGeom prst="rect">
            <a:avLst/>
          </a:prstGeom>
          <a:solidFill>
            <a:srgbClr val="FFFFFF"/>
          </a:solidFill>
          <a:ln w="6350">
            <a:solidFill>
              <a:srgbClr val="C4D0C8"/>
            </a:solidFill>
            <a:prstDash val="solid"/>
          </a:ln>
        </p:spPr>
      </p:sp>
      <p:sp>
        <p:nvSpPr>
          <p:cNvPr id="28" name="Text 26"/>
          <p:cNvSpPr txBox="1"/>
          <p:nvPr/>
        </p:nvSpPr>
        <p:spPr>
          <a:xfrm>
            <a:off x="731520" y="5303520"/>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Matched controls</a:t>
            </a:r>
            <a:endParaRPr lang="en-US" sz="1150" dirty="0"/>
          </a:p>
        </p:txBody>
      </p:sp>
      <p:sp>
        <p:nvSpPr>
          <p:cNvPr id="29" name="Text 27"/>
          <p:cNvSpPr txBox="1"/>
          <p:nvPr/>
        </p:nvSpPr>
        <p:spPr>
          <a:xfrm>
            <a:off x="3447288" y="5303520"/>
            <a:ext cx="1828800" cy="347472"/>
          </a:xfrm>
          <a:prstGeom prst="rect">
            <a:avLst/>
          </a:prstGeom>
          <a:noFill/>
          <a:ln/>
        </p:spPr>
        <p:txBody>
          <a:bodyPr wrap="square" lIns="0" tIns="0" rIns="0" bIns="0" rtlCol="0" anchor="ctr"/>
          <a:lstStyle/>
          <a:p>
            <a:pPr marL="0" indent="0">
              <a:buNone/>
            </a:pPr>
            <a:r>
              <a:rPr lang="en-US" sz="1150" b="1" dirty="0">
                <a:solidFill>
                  <a:srgbClr val="2C5A4B"/>
                </a:solidFill>
                <a:latin typeface="Cambria" pitchFamily="34" charset="0"/>
                <a:ea typeface="Cambria" pitchFamily="34" charset="-122"/>
                <a:cs typeface="Cambria" pitchFamily="34" charset="-120"/>
              </a:rPr>
              <a:t>12 of 342</a:t>
            </a:r>
            <a:endParaRPr lang="en-US" sz="1300" dirty="0"/>
          </a:p>
        </p:txBody>
      </p:sp>
      <p:sp>
        <p:nvSpPr>
          <p:cNvPr id="30" name="Text 28"/>
          <p:cNvSpPr txBox="1"/>
          <p:nvPr/>
        </p:nvSpPr>
        <p:spPr>
          <a:xfrm>
            <a:off x="5367528" y="5303520"/>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on real DEM covariates; 276 rejected for stream distance, 11 for slope</a:t>
            </a:r>
            <a:endParaRPr lang="en-US" sz="1100" dirty="0"/>
          </a:p>
        </p:txBody>
      </p:sp>
      <p:sp>
        <p:nvSpPr>
          <p:cNvPr id="31" name="Shape 29"/>
          <p:cNvSpPr/>
          <p:nvPr/>
        </p:nvSpPr>
        <p:spPr>
          <a:xfrm>
            <a:off x="566928" y="5650992"/>
            <a:ext cx="11057839" cy="347472"/>
          </a:xfrm>
          <a:prstGeom prst="rect">
            <a:avLst/>
          </a:prstGeom>
          <a:solidFill>
            <a:srgbClr val="E7EDE9"/>
          </a:solidFill>
          <a:ln w="6350">
            <a:solidFill>
              <a:srgbClr val="C4D0C8"/>
            </a:solidFill>
            <a:prstDash val="solid"/>
          </a:ln>
        </p:spPr>
      </p:sp>
      <p:sp>
        <p:nvSpPr>
          <p:cNvPr id="32" name="Text 30"/>
          <p:cNvSpPr txBox="1"/>
          <p:nvPr/>
        </p:nvSpPr>
        <p:spPr>
          <a:xfrm>
            <a:off x="731520" y="5650992"/>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Imagery volume</a:t>
            </a:r>
            <a:endParaRPr lang="en-US" sz="1150" dirty="0"/>
          </a:p>
        </p:txBody>
      </p:sp>
      <p:sp>
        <p:nvSpPr>
          <p:cNvPr id="33" name="Text 31"/>
          <p:cNvSpPr txBox="1"/>
          <p:nvPr/>
        </p:nvSpPr>
        <p:spPr>
          <a:xfrm>
            <a:off x="3447288" y="5650992"/>
            <a:ext cx="1828800" cy="347472"/>
          </a:xfrm>
          <a:prstGeom prst="rect">
            <a:avLst/>
          </a:prstGeom>
          <a:noFill/>
          <a:ln/>
        </p:spPr>
        <p:txBody>
          <a:bodyPr wrap="square" lIns="0" tIns="0" rIns="0" bIns="0" rtlCol="0" anchor="ctr"/>
          <a:lstStyle/>
          <a:p>
            <a:pPr marL="0" indent="0">
              <a:buNone/>
            </a:pPr>
            <a:r>
              <a:rPr lang="en-US" sz="1150" b="1" dirty="0">
                <a:solidFill>
                  <a:srgbClr val="2C5A4B"/>
                </a:solidFill>
                <a:latin typeface="Cambria" pitchFamily="34" charset="0"/>
                <a:ea typeface="Cambria" pitchFamily="34" charset="-122"/>
                <a:cs typeface="Cambria" pitchFamily="34" charset="-120"/>
              </a:rPr>
              <a:t>1.8 GB</a:t>
            </a:r>
            <a:endParaRPr lang="en-US" sz="1300" dirty="0"/>
          </a:p>
        </p:txBody>
      </p:sp>
      <p:sp>
        <p:nvSpPr>
          <p:cNvPr id="34" name="Text 32"/>
          <p:cNvSpPr txBox="1"/>
          <p:nvPr/>
        </p:nvSpPr>
        <p:spPr>
          <a:xfrm>
            <a:off x="5367528" y="5650992"/>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five years, windowed COG reads — against 78 GB for naive granule download</a:t>
            </a:r>
            <a:endParaRPr lang="en-US" sz="1100" dirty="0"/>
          </a:p>
        </p:txBody>
      </p:sp>
      <p:sp>
        <p:nvSpPr>
          <p:cNvPr id="35" name="Shape 33"/>
          <p:cNvSpPr/>
          <p:nvPr/>
        </p:nvSpPr>
        <p:spPr>
          <a:xfrm>
            <a:off x="566928" y="5998464"/>
            <a:ext cx="11057839" cy="347472"/>
          </a:xfrm>
          <a:prstGeom prst="rect">
            <a:avLst/>
          </a:prstGeom>
          <a:solidFill>
            <a:srgbClr val="FFFFFF"/>
          </a:solidFill>
          <a:ln w="6350">
            <a:solidFill>
              <a:srgbClr val="C4D0C8"/>
            </a:solidFill>
            <a:prstDash val="solid"/>
          </a:ln>
        </p:spPr>
      </p:sp>
      <p:sp>
        <p:nvSpPr>
          <p:cNvPr id="36" name="Text 34"/>
          <p:cNvSpPr txBox="1"/>
          <p:nvPr/>
        </p:nvSpPr>
        <p:spPr>
          <a:xfrm>
            <a:off x="731520" y="5998464"/>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Photo inference</a:t>
            </a:r>
            <a:endParaRPr lang="en-US" sz="1150" dirty="0"/>
          </a:p>
        </p:txBody>
      </p:sp>
      <p:sp>
        <p:nvSpPr>
          <p:cNvPr id="37" name="Text 35"/>
          <p:cNvSpPr txBox="1"/>
          <p:nvPr/>
        </p:nvSpPr>
        <p:spPr>
          <a:xfrm>
            <a:off x="3447288" y="5998464"/>
            <a:ext cx="1828800" cy="347472"/>
          </a:xfrm>
          <a:prstGeom prst="rect">
            <a:avLst/>
          </a:prstGeom>
          <a:noFill/>
          <a:ln/>
        </p:spPr>
        <p:txBody>
          <a:bodyPr wrap="square" lIns="0" tIns="0" rIns="0" bIns="0" rtlCol="0" anchor="ctr"/>
          <a:lstStyle/>
          <a:p>
            <a:pPr marL="0" indent="0">
              <a:buNone/>
            </a:pPr>
            <a:r>
              <a:rPr lang="en-US" sz="1150" b="1" dirty="0">
                <a:solidFill>
                  <a:srgbClr val="2C5A4B"/>
                </a:solidFill>
                <a:latin typeface="Cambria" pitchFamily="34" charset="0"/>
                <a:ea typeface="Cambria" pitchFamily="34" charset="-122"/>
                <a:cs typeface="Cambria" pitchFamily="34" charset="-120"/>
              </a:rPr>
              <a:t>29 img/s on CPU</a:t>
            </a:r>
            <a:endParaRPr lang="en-US" sz="1300" dirty="0"/>
          </a:p>
        </p:txBody>
      </p:sp>
      <p:sp>
        <p:nvSpPr>
          <p:cNvPr id="38" name="Text 36"/>
          <p:cNvSpPr txBox="1"/>
          <p:nvPr/>
        </p:nvSpPr>
        <p:spPr>
          <a:xfrm>
            <a:off x="5367528" y="5998464"/>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zero GPU · ~6 img/s on a demo VM assumed 5× slower · 1,200 images in minutes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NOVELTY</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10</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What is genuinely new — and what is not.</a:t>
            </a:r>
            <a:endParaRPr lang="en-US" sz="3300" dirty="0"/>
          </a:p>
        </p:txBody>
      </p:sp>
      <p:sp>
        <p:nvSpPr>
          <p:cNvPr id="5" name="Shape 3"/>
          <p:cNvSpPr/>
          <p:nvPr/>
        </p:nvSpPr>
        <p:spPr>
          <a:xfrm>
            <a:off x="566928" y="1664208"/>
            <a:ext cx="5257800" cy="3986784"/>
          </a:xfrm>
          <a:prstGeom prst="roundRect">
            <a:avLst>
              <a:gd name="adj" fmla="val 1376"/>
            </a:avLst>
          </a:prstGeom>
          <a:solidFill>
            <a:srgbClr val="FFFFFF"/>
          </a:solidFill>
          <a:ln w="12700">
            <a:solidFill>
              <a:srgbClr val="C4D0C8"/>
            </a:solidFill>
            <a:prstDash val="solid"/>
          </a:ln>
        </p:spPr>
      </p:sp>
      <p:sp>
        <p:nvSpPr>
          <p:cNvPr id="6" name="Text 4"/>
          <p:cNvSpPr txBox="1"/>
          <p:nvPr/>
        </p:nvSpPr>
        <p:spPr>
          <a:xfrm>
            <a:off x="841248" y="1883664"/>
            <a:ext cx="4709160" cy="274320"/>
          </a:xfrm>
          <a:prstGeom prst="rect">
            <a:avLst/>
          </a:prstGeom>
          <a:noFill/>
          <a:ln/>
        </p:spPr>
        <p:txBody>
          <a:bodyPr wrap="square" lIns="0" tIns="0" rIns="0" bIns="0" rtlCol="0" anchor="ctr"/>
          <a:lstStyle/>
          <a:p>
            <a:pPr marL="0" indent="0">
              <a:buNone/>
            </a:pPr>
            <a:r>
              <a:rPr lang="en-US" sz="1050" b="1" kern="0" spc="120" dirty="0">
                <a:solidFill>
                  <a:srgbClr val="9FB3A9"/>
                </a:solidFill>
                <a:latin typeface="Calibri" pitchFamily="34" charset="0"/>
                <a:ea typeface="Calibri" pitchFamily="34" charset="-122"/>
                <a:cs typeface="Calibri" pitchFamily="34" charset="-120"/>
              </a:rPr>
              <a:t>NOT NEW — AND WE DON’T PRETEND OTHERWISE</a:t>
            </a:r>
            <a:endParaRPr lang="en-US" sz="1050" dirty="0"/>
          </a:p>
        </p:txBody>
      </p:sp>
      <p:sp>
        <p:nvSpPr>
          <p:cNvPr id="7" name="Text 5"/>
          <p:cNvSpPr txBox="1"/>
          <p:nvPr/>
        </p:nvSpPr>
        <p:spPr>
          <a:xfrm>
            <a:off x="841248" y="2286000"/>
            <a:ext cx="4709160" cy="3017520"/>
          </a:xfrm>
          <a:prstGeom prst="rect">
            <a:avLst/>
          </a:prstGeom>
          <a:noFill/>
          <a:ln/>
        </p:spPr>
        <p:txBody>
          <a:bodyPr wrap="square" lIns="0" tIns="0" rIns="0" bIns="0" rtlCol="0" anchor="ctr"/>
          <a:lstStyle/>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NDVI / NDWI change detection</a:t>
            </a:r>
            <a:endParaRPr lang="en-US" sz="1350" dirty="0"/>
          </a:p>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Mapping geo-tagged points on satellite imagery</a:t>
            </a:r>
            <a:endParaRPr lang="en-US" sz="1350" dirty="0"/>
          </a:p>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GIS dashboards for government programmes</a:t>
            </a:r>
            <a:endParaRPr lang="en-US" sz="1350" dirty="0"/>
          </a:p>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Computer vision applied to field photographs</a:t>
            </a:r>
            <a:endParaRPr lang="en-US" sz="1350" dirty="0"/>
          </a:p>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Treated-versus-control watershed impact studies</a:t>
            </a:r>
            <a:endParaRPr lang="en-US" sz="1350" dirty="0"/>
          </a:p>
        </p:txBody>
      </p:sp>
      <p:sp>
        <p:nvSpPr>
          <p:cNvPr id="8" name="Shape 6"/>
          <p:cNvSpPr/>
          <p:nvPr/>
        </p:nvSpPr>
        <p:spPr>
          <a:xfrm>
            <a:off x="6309360" y="1664208"/>
            <a:ext cx="5312664" cy="3986784"/>
          </a:xfrm>
          <a:prstGeom prst="roundRect">
            <a:avLst>
              <a:gd name="adj" fmla="val 1376"/>
            </a:avLst>
          </a:prstGeom>
          <a:solidFill>
            <a:srgbClr val="FFFFFF"/>
          </a:solidFill>
          <a:ln w="12700">
            <a:solidFill>
              <a:srgbClr val="C4D0C8"/>
            </a:solidFill>
            <a:prstDash val="solid"/>
          </a:ln>
        </p:spPr>
      </p:sp>
      <p:sp>
        <p:nvSpPr>
          <p:cNvPr id="9" name="Text 7"/>
          <p:cNvSpPr txBox="1"/>
          <p:nvPr/>
        </p:nvSpPr>
        <p:spPr>
          <a:xfrm>
            <a:off x="6583680" y="1883664"/>
            <a:ext cx="4754880" cy="274320"/>
          </a:xfrm>
          <a:prstGeom prst="rect">
            <a:avLst/>
          </a:prstGeom>
          <a:noFill/>
          <a:ln/>
        </p:spPr>
        <p:txBody>
          <a:bodyPr wrap="square" lIns="0" tIns="0" rIns="0" bIns="0" rtlCol="0" anchor="ctr"/>
          <a:lstStyle/>
          <a:p>
            <a:pPr marL="0" indent="0">
              <a:buNone/>
            </a:pPr>
            <a:r>
              <a:rPr lang="en-US" sz="1050" b="1" kern="0" spc="120" dirty="0">
                <a:solidFill>
                  <a:srgbClr val="92321F"/>
                </a:solidFill>
                <a:latin typeface="Calibri" pitchFamily="34" charset="0"/>
                <a:ea typeface="Calibri" pitchFamily="34" charset="-122"/>
                <a:cs typeface="Calibri" pitchFamily="34" charset="-120"/>
              </a:rPr>
              <a:t>NEW IN THIS COMBINATION</a:t>
            </a:r>
            <a:endParaRPr lang="en-US" sz="1050" dirty="0"/>
          </a:p>
        </p:txBody>
      </p:sp>
      <p:sp>
        <p:nvSpPr>
          <p:cNvPr id="10" name="Text 8"/>
          <p:cNvSpPr txBox="1"/>
          <p:nvPr/>
        </p:nvSpPr>
        <p:spPr>
          <a:xfrm>
            <a:off x="6583680" y="2286000"/>
            <a:ext cx="4754880" cy="3017520"/>
          </a:xfrm>
          <a:prstGeom prst="rect">
            <a:avLst/>
          </a:prstGeom>
          <a:noFill/>
          <a:ln/>
        </p:spPr>
        <p:txBody>
          <a:bodyPr wrap="square" lIns="0" tIns="0" rIns="0" bIns="0" rtlCol="0" anchor="ctr"/>
          <a:lstStyle/>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Claim-level satellite–field reconciliation on a published epistemic ladder</a:t>
            </a:r>
            <a:endParaRPr lang="en-US" sz="1350" dirty="0"/>
          </a:p>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Matched-control differencing per individual structure, not per programme</a:t>
            </a:r>
            <a:endParaRPr lang="en-US" sz="1350" dirty="0"/>
          </a:p>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Terrain plausibility screening of geotags before any model runs</a:t>
            </a:r>
            <a:endParaRPr lang="en-US" sz="1350" dirty="0"/>
          </a:p>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An explicit refusal-to-answer gate tied to sensor resolution</a:t>
            </a:r>
            <a:endParaRPr lang="en-US" sz="1350" dirty="0"/>
          </a:p>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An append-only adjudication ledger that becomes the next training set</a:t>
            </a:r>
            <a:endParaRPr lang="en-US" sz="1350" dirty="0"/>
          </a:p>
        </p:txBody>
      </p:sp>
      <p:sp>
        <p:nvSpPr>
          <p:cNvPr id="11" name="Shape 9"/>
          <p:cNvSpPr/>
          <p:nvPr/>
        </p:nvSpPr>
        <p:spPr>
          <a:xfrm>
            <a:off x="566928" y="5888736"/>
            <a:ext cx="11057839" cy="548640"/>
          </a:xfrm>
          <a:prstGeom prst="roundRect">
            <a:avLst>
              <a:gd name="adj" fmla="val 13333"/>
            </a:avLst>
          </a:prstGeom>
          <a:solidFill>
            <a:srgbClr val="0E1A16"/>
          </a:solidFill>
          <a:ln w="12700">
            <a:solidFill>
              <a:srgbClr val="0E1A16"/>
            </a:solidFill>
            <a:prstDash val="solid"/>
          </a:ln>
        </p:spPr>
      </p:sp>
      <p:sp>
        <p:nvSpPr>
          <p:cNvPr id="12" name="Text 10"/>
          <p:cNvSpPr txBox="1"/>
          <p:nvPr/>
        </p:nvSpPr>
        <p:spPr>
          <a:xfrm>
            <a:off x="566928" y="5888736"/>
            <a:ext cx="11057839" cy="548640"/>
          </a:xfrm>
          <a:prstGeom prst="rect">
            <a:avLst/>
          </a:prstGeom>
          <a:noFill/>
          <a:ln/>
        </p:spPr>
        <p:txBody>
          <a:bodyPr wrap="square" lIns="0" tIns="0" rIns="0" bIns="0" rtlCol="0" anchor="ctr"/>
          <a:lstStyle/>
          <a:p>
            <a:pPr marL="0" indent="0" algn="ctr">
              <a:buNone/>
            </a:pPr>
            <a:r>
              <a:rPr lang="en-US" sz="1400" i="1" dirty="0">
                <a:solidFill>
                  <a:srgbClr val="FFFFFF"/>
                </a:solidFill>
                <a:latin typeface="Cambria" pitchFamily="34" charset="0"/>
                <a:ea typeface="Cambria" pitchFamily="34" charset="-122"/>
                <a:cs typeface="Cambria" pitchFamily="34" charset="-120"/>
              </a:rPr>
              <a:t>We are not claiming a first. We are claiming these five have not been assembled into one government-workflow-native system — and we checked.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IMPACT</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11</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Redirecting scarce human attention.</a:t>
            </a:r>
            <a:endParaRPr lang="en-US" sz="3300" dirty="0"/>
          </a:p>
        </p:txBody>
      </p:sp>
      <p:graphicFrame>
        <p:nvGraphicFramePr>
          <p:cNvPr id="5" name="Chart 0"/>
          <p:cNvGraphicFramePr/>
          <p:nvPr/>
        </p:nvGraphicFramePr>
        <p:xfrm>
          <a:off x="566928" y="1591056"/>
          <a:ext cx="5943600" cy="316382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66928" y="4791456"/>
            <a:ext cx="5943600" cy="274320"/>
          </a:xfrm>
          <a:prstGeom prst="rect">
            <a:avLst/>
          </a:prstGeom>
          <a:noFill/>
          <a:ln/>
        </p:spPr>
        <p:txBody>
          <a:bodyPr wrap="square" lIns="0" tIns="0" rIns="0" bIns="0" rtlCol="0" anchor="ctr"/>
          <a:lstStyle/>
          <a:p>
            <a:pPr marL="0" indent="0">
              <a:buNone/>
            </a:pPr>
            <a:r>
              <a:rPr lang="en-US" sz="1000" i="1" dirty="0">
                <a:solidFill>
                  <a:srgbClr val="9FB3A9"/>
                </a:solidFill>
                <a:latin typeface="Calibri" pitchFamily="34" charset="0"/>
                <a:ea typeface="Calibri" pitchFamily="34" charset="-122"/>
                <a:cs typeface="Calibri" pitchFamily="34" charset="-120"/>
              </a:rPr>
              <a:t>Illustrative funnel from the demo corpus. The ratio is measured and reported — never assumed.</a:t>
            </a:r>
            <a:endParaRPr lang="en-US" sz="1000" dirty="0"/>
          </a:p>
        </p:txBody>
      </p:sp>
      <p:sp>
        <p:nvSpPr>
          <p:cNvPr id="7" name="Shape 4"/>
          <p:cNvSpPr/>
          <p:nvPr/>
        </p:nvSpPr>
        <p:spPr>
          <a:xfrm>
            <a:off x="6784848" y="1591056"/>
            <a:ext cx="4837176" cy="1883664"/>
          </a:xfrm>
          <a:prstGeom prst="roundRect">
            <a:avLst>
              <a:gd name="adj" fmla="val 2913"/>
            </a:avLst>
          </a:prstGeom>
          <a:solidFill>
            <a:srgbClr val="FFFFFF"/>
          </a:solidFill>
          <a:ln w="12700">
            <a:solidFill>
              <a:srgbClr val="C4D0C8"/>
            </a:solidFill>
            <a:prstDash val="solid"/>
          </a:ln>
        </p:spPr>
      </p:sp>
      <p:sp>
        <p:nvSpPr>
          <p:cNvPr id="8" name="Text 5"/>
          <p:cNvSpPr txBox="1"/>
          <p:nvPr/>
        </p:nvSpPr>
        <p:spPr>
          <a:xfrm>
            <a:off x="7022592" y="1773936"/>
            <a:ext cx="4389120" cy="274320"/>
          </a:xfrm>
          <a:prstGeom prst="rect">
            <a:avLst/>
          </a:prstGeom>
          <a:noFill/>
          <a:ln/>
        </p:spPr>
        <p:txBody>
          <a:bodyPr wrap="square" lIns="0" tIns="0" rIns="0" bIns="0" rtlCol="0" anchor="ctr"/>
          <a:lstStyle/>
          <a:p>
            <a:pPr marL="0" indent="0">
              <a:buNone/>
            </a:pPr>
            <a:r>
              <a:rPr lang="en-US" sz="1250" b="1" dirty="0">
                <a:solidFill>
                  <a:srgbClr val="0E1A16"/>
                </a:solidFill>
                <a:latin typeface="Calibri" pitchFamily="34" charset="0"/>
                <a:ea typeface="Calibri" pitchFamily="34" charset="-122"/>
                <a:cs typeface="Calibri" pitchFamily="34" charset="-120"/>
              </a:rPr>
              <a:t>Watershed development already works.</a:t>
            </a:r>
            <a:endParaRPr lang="en-US" sz="1250" dirty="0"/>
          </a:p>
        </p:txBody>
      </p:sp>
      <p:sp>
        <p:nvSpPr>
          <p:cNvPr id="9" name="Text 6"/>
          <p:cNvSpPr txBox="1"/>
          <p:nvPr/>
        </p:nvSpPr>
        <p:spPr>
          <a:xfrm>
            <a:off x="7022592" y="2103120"/>
            <a:ext cx="4389120" cy="676656"/>
          </a:xfrm>
          <a:prstGeom prst="rect">
            <a:avLst/>
          </a:prstGeom>
          <a:noFill/>
          <a:ln/>
        </p:spPr>
        <p:txBody>
          <a:bodyPr wrap="square" lIns="0" tIns="0" rIns="0" bIns="0" rtlCol="0" anchor="ctr"/>
          <a:lstStyle/>
          <a:p>
            <a:pPr marL="0" indent="0">
              <a:lnSpc>
                <a:spcPts val="2200"/>
              </a:lnSpc>
              <a:buNone/>
            </a:pPr>
            <a:r>
              <a:rPr lang="en-US" sz="1400" dirty="0">
                <a:solidFill>
                  <a:srgbClr val="2C5A4B"/>
                </a:solidFill>
                <a:latin typeface="Cambria" pitchFamily="34" charset="0"/>
                <a:ea typeface="Cambria" pitchFamily="34" charset="-122"/>
                <a:cs typeface="Cambria" pitchFamily="34" charset="-120"/>
              </a:rPr>
              <a:t>B:C ≈ 2   ·   IRR 27.4 %   ·   cropping intensity +35.5 %</a:t>
            </a:r>
            <a:endParaRPr lang="en-US" sz="1400" dirty="0"/>
          </a:p>
          <a:p>
            <a:pPr marL="0" indent="0">
              <a:lnSpc>
                <a:spcPts val="2200"/>
              </a:lnSpc>
              <a:buNone/>
            </a:pPr>
            <a:r>
              <a:rPr lang="en-US" sz="1400" dirty="0">
                <a:solidFill>
                  <a:srgbClr val="2C5A4B"/>
                </a:solidFill>
                <a:latin typeface="Cambria" pitchFamily="34" charset="0"/>
                <a:ea typeface="Cambria" pitchFamily="34" charset="-122"/>
                <a:cs typeface="Cambria" pitchFamily="34" charset="-120"/>
              </a:rPr>
              <a:t>runoff −45 %   ·   soil loss −1.1 t / ha / yr</a:t>
            </a:r>
            <a:endParaRPr lang="en-US" sz="1400" dirty="0"/>
          </a:p>
        </p:txBody>
      </p:sp>
      <p:sp>
        <p:nvSpPr>
          <p:cNvPr id="10" name="Text 7"/>
          <p:cNvSpPr txBox="1"/>
          <p:nvPr/>
        </p:nvSpPr>
        <p:spPr>
          <a:xfrm>
            <a:off x="7022592" y="2816352"/>
            <a:ext cx="4389120" cy="219456"/>
          </a:xfrm>
          <a:prstGeom prst="rect">
            <a:avLst/>
          </a:prstGeom>
          <a:noFill/>
          <a:ln/>
        </p:spPr>
        <p:txBody>
          <a:bodyPr wrap="square" lIns="0" tIns="0" rIns="0" bIns="0" rtlCol="0" anchor="ctr"/>
          <a:lstStyle/>
          <a:p>
            <a:pPr marL="0" indent="0">
              <a:buNone/>
            </a:pPr>
            <a:r>
              <a:rPr lang="en-US" sz="950" i="1" dirty="0">
                <a:solidFill>
                  <a:srgbClr val="9FB3A9"/>
                </a:solidFill>
                <a:latin typeface="Calibri" pitchFamily="34" charset="0"/>
                <a:ea typeface="Calibri" pitchFamily="34" charset="-122"/>
                <a:cs typeface="Calibri" pitchFamily="34" charset="-120"/>
              </a:rPr>
              <a:t>ICRISAT meta-analysis, 636 Indian micro-watersheds</a:t>
            </a:r>
            <a:endParaRPr lang="en-US" sz="950" dirty="0"/>
          </a:p>
        </p:txBody>
      </p:sp>
      <p:sp>
        <p:nvSpPr>
          <p:cNvPr id="11" name="Text 8"/>
          <p:cNvSpPr txBox="1"/>
          <p:nvPr/>
        </p:nvSpPr>
        <p:spPr>
          <a:xfrm>
            <a:off x="7022592" y="3072384"/>
            <a:ext cx="4389120" cy="292608"/>
          </a:xfrm>
          <a:prstGeom prst="rect">
            <a:avLst/>
          </a:prstGeom>
          <a:noFill/>
          <a:ln/>
        </p:spPr>
        <p:txBody>
          <a:bodyPr wrap="square" lIns="0" tIns="0" rIns="0" bIns="0" rtlCol="0" anchor="ctr"/>
          <a:lstStyle/>
          <a:p>
            <a:pPr marL="0" indent="0">
              <a:buNone/>
            </a:pPr>
            <a:r>
              <a:rPr lang="en-US" sz="1100" b="1" dirty="0">
                <a:solidFill>
                  <a:srgbClr val="92321F"/>
                </a:solidFill>
                <a:latin typeface="Calibri" pitchFamily="34" charset="0"/>
                <a:ea typeface="Calibri" pitchFamily="34" charset="-122"/>
                <a:cs typeface="Calibri" pitchFamily="34" charset="-120"/>
              </a:rPr>
              <a:t>The constraint is not whether it works. It is knowing which structures are working.</a:t>
            </a:r>
            <a:endParaRPr lang="en-US" sz="1100" dirty="0"/>
          </a:p>
        </p:txBody>
      </p:sp>
      <p:sp>
        <p:nvSpPr>
          <p:cNvPr id="12" name="Shape 9"/>
          <p:cNvSpPr/>
          <p:nvPr/>
        </p:nvSpPr>
        <p:spPr>
          <a:xfrm>
            <a:off x="6784848" y="3621024"/>
            <a:ext cx="4837176" cy="1207008"/>
          </a:xfrm>
          <a:prstGeom prst="roundRect">
            <a:avLst>
              <a:gd name="adj" fmla="val 4545"/>
            </a:avLst>
          </a:prstGeom>
          <a:solidFill>
            <a:srgbClr val="9E5C13"/>
          </a:solidFill>
          <a:ln w="12700">
            <a:solidFill>
              <a:srgbClr val="9E5C13"/>
            </a:solidFill>
            <a:prstDash val="solid"/>
          </a:ln>
        </p:spPr>
      </p:sp>
      <p:sp>
        <p:nvSpPr>
          <p:cNvPr id="13" name="Text 10"/>
          <p:cNvSpPr txBox="1"/>
          <p:nvPr/>
        </p:nvSpPr>
        <p:spPr>
          <a:xfrm>
            <a:off x="7022592" y="3730752"/>
            <a:ext cx="1280160" cy="603504"/>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₹0</a:t>
            </a:r>
            <a:endParaRPr lang="en-US" sz="3600" dirty="0"/>
          </a:p>
        </p:txBody>
      </p:sp>
      <p:sp>
        <p:nvSpPr>
          <p:cNvPr id="14" name="Text 11"/>
          <p:cNvSpPr txBox="1"/>
          <p:nvPr/>
        </p:nvSpPr>
        <p:spPr>
          <a:xfrm>
            <a:off x="8247888" y="3730752"/>
            <a:ext cx="3200400" cy="960120"/>
          </a:xfrm>
          <a:prstGeom prst="rect">
            <a:avLst/>
          </a:prstGeom>
          <a:noFill/>
          <a:ln/>
        </p:spPr>
        <p:txBody>
          <a:bodyPr wrap="square" lIns="0" tIns="0" rIns="0" bIns="0" rtlCol="0" anchor="ctr"/>
          <a:lstStyle/>
          <a:p>
            <a:pPr marL="0" indent="0">
              <a:lnSpc>
                <a:spcPts val="1500"/>
              </a:lnSpc>
              <a:buNone/>
            </a:pPr>
            <a:r>
              <a:rPr lang="en-US" sz="1050" dirty="0">
                <a:solidFill>
                  <a:srgbClr val="FFF6EA"/>
                </a:solidFill>
                <a:latin typeface="Calibri" pitchFamily="34" charset="0"/>
                <a:ea typeface="Calibri" pitchFamily="34" charset="-122"/>
                <a:cs typeface="Calibri" pitchFamily="34" charset="-120"/>
              </a:rPr>
              <a:t>in data and licence costs. Every source on the core</a:t>
            </a:r>
            <a:endParaRPr lang="en-US" sz="1050" dirty="0"/>
          </a:p>
          <a:p>
            <a:pPr marL="0" indent="0">
              <a:lnSpc>
                <a:spcPts val="1500"/>
              </a:lnSpc>
              <a:buNone/>
            </a:pPr>
            <a:r>
              <a:rPr lang="en-US" sz="1050" dirty="0">
                <a:solidFill>
                  <a:srgbClr val="FFF6EA"/>
                </a:solidFill>
                <a:latin typeface="Calibri" pitchFamily="34" charset="0"/>
                <a:ea typeface="Calibri" pitchFamily="34" charset="-122"/>
                <a:cs typeface="Calibri" pitchFamily="34" charset="-120"/>
              </a:rPr>
              <a:t>path is free, open and verified — so the marginal cost</a:t>
            </a:r>
            <a:endParaRPr lang="en-US" sz="1050" dirty="0"/>
          </a:p>
          <a:p>
            <a:pPr marL="0" indent="0">
              <a:lnSpc>
                <a:spcPts val="1500"/>
              </a:lnSpc>
              <a:buNone/>
            </a:pPr>
            <a:r>
              <a:rPr lang="en-US" sz="1050" dirty="0">
                <a:solidFill>
                  <a:srgbClr val="FFF6EA"/>
                </a:solidFill>
                <a:latin typeface="Calibri" pitchFamily="34" charset="0"/>
                <a:ea typeface="Calibri" pitchFamily="34" charset="-122"/>
                <a:cs typeface="Calibri" pitchFamily="34" charset="-120"/>
              </a:rPr>
              <a:t>of monitoring one more structure is CPU seconds.</a:t>
            </a:r>
            <a:endParaRPr lang="en-US" sz="1050" dirty="0"/>
          </a:p>
        </p:txBody>
      </p:sp>
      <p:sp>
        <p:nvSpPr>
          <p:cNvPr id="15" name="Shape 12"/>
          <p:cNvSpPr/>
          <p:nvPr/>
        </p:nvSpPr>
        <p:spPr>
          <a:xfrm>
            <a:off x="566928" y="5358384"/>
            <a:ext cx="11057839" cy="640080"/>
          </a:xfrm>
          <a:prstGeom prst="roundRect">
            <a:avLst>
              <a:gd name="adj" fmla="val 11429"/>
            </a:avLst>
          </a:prstGeom>
          <a:solidFill>
            <a:srgbClr val="0E1A16"/>
          </a:solidFill>
          <a:ln w="12700">
            <a:solidFill>
              <a:srgbClr val="0E1A16"/>
            </a:solidFill>
            <a:prstDash val="solid"/>
          </a:ln>
        </p:spPr>
      </p:sp>
      <p:sp>
        <p:nvSpPr>
          <p:cNvPr id="16" name="Text 13"/>
          <p:cNvSpPr txBox="1"/>
          <p:nvPr/>
        </p:nvSpPr>
        <p:spPr>
          <a:xfrm>
            <a:off x="566928" y="5358384"/>
            <a:ext cx="11057839" cy="640080"/>
          </a:xfrm>
          <a:prstGeom prst="rect">
            <a:avLst/>
          </a:prstGeom>
          <a:noFill/>
          <a:ln/>
        </p:spPr>
        <p:txBody>
          <a:bodyPr wrap="square" lIns="0" tIns="0" rIns="0" bIns="0" rtlCol="0" anchor="ctr"/>
          <a:lstStyle/>
          <a:p>
            <a:pPr marL="0" indent="0" algn="ctr">
              <a:buNone/>
            </a:pPr>
            <a:r>
              <a:rPr lang="en-US" sz="1450" i="1" dirty="0">
                <a:solidFill>
                  <a:srgbClr val="FFFFFF"/>
                </a:solidFill>
                <a:latin typeface="Cambria" pitchFamily="34" charset="0"/>
                <a:ea typeface="Cambria" pitchFamily="34" charset="-122"/>
                <a:cs typeface="Cambria" pitchFamily="34" charset="-120"/>
              </a:rPr>
              <a:t>Every officer correction becomes a labelled training sample — the dataset is produced by the system’s own use, by domain experts, for free, forever.</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FEASIBILITY &amp; HONESTY</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12</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658"/>
              </a:lnSpc>
              <a:buNone/>
            </a:pPr>
            <a:r>
              <a:rPr lang="en-US" sz="3100" b="1" dirty="0">
                <a:solidFill>
                  <a:srgbClr val="0E1A16"/>
                </a:solidFill>
                <a:latin typeface="Cambria" pitchFamily="34" charset="0"/>
                <a:ea typeface="Cambria" pitchFamily="34" charset="-122"/>
                <a:cs typeface="Cambria" pitchFamily="34" charset="-120"/>
              </a:rPr>
              <a:t>Free data. No GPU. One driver class to production.</a:t>
            </a:r>
            <a:endParaRPr lang="en-US" sz="3100" dirty="0"/>
          </a:p>
        </p:txBody>
      </p:sp>
      <p:sp>
        <p:nvSpPr>
          <p:cNvPr id="5" name="Shape 3"/>
          <p:cNvSpPr/>
          <p:nvPr/>
        </p:nvSpPr>
        <p:spPr>
          <a:xfrm>
            <a:off x="566928" y="1426464"/>
            <a:ext cx="11057839" cy="384048"/>
          </a:xfrm>
          <a:prstGeom prst="rect">
            <a:avLst/>
          </a:prstGeom>
          <a:solidFill>
            <a:srgbClr val="0E1A16"/>
          </a:solidFill>
          <a:ln w="6350">
            <a:solidFill>
              <a:srgbClr val="C4D0C8"/>
            </a:solidFill>
            <a:prstDash val="solid"/>
          </a:ln>
        </p:spPr>
      </p:sp>
      <p:sp>
        <p:nvSpPr>
          <p:cNvPr id="6" name="Text 4"/>
          <p:cNvSpPr txBox="1"/>
          <p:nvPr/>
        </p:nvSpPr>
        <p:spPr>
          <a:xfrm>
            <a:off x="731520" y="1426464"/>
            <a:ext cx="3017520" cy="384048"/>
          </a:xfrm>
          <a:prstGeom prst="rect">
            <a:avLst/>
          </a:prstGeom>
          <a:noFill/>
          <a:ln/>
        </p:spPr>
        <p:txBody>
          <a:bodyPr wrap="square" lIns="0" tIns="0" rIns="0" bIns="0" rtlCol="0" anchor="ctr"/>
          <a:lstStyle/>
          <a:p>
            <a:pPr marL="0" indent="0">
              <a:buNone/>
            </a:pPr>
            <a:r>
              <a:rPr lang="en-US" sz="1050" b="1" kern="0" spc="120" dirty="0">
                <a:solidFill>
                  <a:srgbClr val="8FB996"/>
                </a:solidFill>
                <a:latin typeface="Calibri" pitchFamily="34" charset="0"/>
                <a:ea typeface="Calibri" pitchFamily="34" charset="-122"/>
                <a:cs typeface="Calibri" pitchFamily="34" charset="-120"/>
              </a:rPr>
              <a:t>What production needs</a:t>
            </a:r>
            <a:endParaRPr lang="en-US" sz="1050" dirty="0"/>
          </a:p>
        </p:txBody>
      </p:sp>
      <p:sp>
        <p:nvSpPr>
          <p:cNvPr id="7" name="Text 5"/>
          <p:cNvSpPr txBox="1"/>
          <p:nvPr/>
        </p:nvSpPr>
        <p:spPr>
          <a:xfrm>
            <a:off x="3858768" y="1426464"/>
            <a:ext cx="5852160" cy="384048"/>
          </a:xfrm>
          <a:prstGeom prst="rect">
            <a:avLst/>
          </a:prstGeom>
          <a:noFill/>
          <a:ln/>
        </p:spPr>
        <p:txBody>
          <a:bodyPr wrap="square" lIns="0" tIns="0" rIns="0" bIns="0" rtlCol="0" anchor="ctr"/>
          <a:lstStyle/>
          <a:p>
            <a:pPr marL="0" indent="0">
              <a:lnSpc>
                <a:spcPts val="1500"/>
              </a:lnSpc>
              <a:buNone/>
            </a:pPr>
            <a:r>
              <a:rPr lang="en-US" sz="1050" b="1" kern="0" spc="120" dirty="0">
                <a:solidFill>
                  <a:srgbClr val="8FB996"/>
                </a:solidFill>
                <a:latin typeface="Calibri" pitchFamily="34" charset="0"/>
                <a:ea typeface="Calibri" pitchFamily="34" charset="-122"/>
                <a:cs typeface="Calibri" pitchFamily="34" charset="-120"/>
              </a:rPr>
              <a:t>What we use for the hackathon</a:t>
            </a:r>
            <a:endParaRPr lang="en-US" sz="1050" dirty="0"/>
          </a:p>
        </p:txBody>
      </p:sp>
      <p:sp>
        <p:nvSpPr>
          <p:cNvPr id="8" name="Text 6"/>
          <p:cNvSpPr txBox="1"/>
          <p:nvPr/>
        </p:nvSpPr>
        <p:spPr>
          <a:xfrm>
            <a:off x="9848088" y="1426464"/>
            <a:ext cx="1737360" cy="384048"/>
          </a:xfrm>
          <a:prstGeom prst="rect">
            <a:avLst/>
          </a:prstGeom>
          <a:noFill/>
          <a:ln/>
        </p:spPr>
        <p:txBody>
          <a:bodyPr wrap="square" lIns="0" tIns="0" rIns="0" bIns="0" rtlCol="0" anchor="ctr"/>
          <a:lstStyle/>
          <a:p>
            <a:pPr marL="0" indent="0">
              <a:buNone/>
            </a:pPr>
            <a:r>
              <a:rPr lang="en-US" sz="1050" b="1" kern="0" spc="120" dirty="0">
                <a:solidFill>
                  <a:srgbClr val="8FB996"/>
                </a:solidFill>
                <a:latin typeface="Calibri" pitchFamily="34" charset="0"/>
                <a:ea typeface="Calibri" pitchFamily="34" charset="-122"/>
                <a:cs typeface="Calibri" pitchFamily="34" charset="-120"/>
              </a:rPr>
              <a:t>Swap effort</a:t>
            </a:r>
            <a:endParaRPr lang="en-US" sz="1050" dirty="0"/>
          </a:p>
        </p:txBody>
      </p:sp>
      <p:sp>
        <p:nvSpPr>
          <p:cNvPr id="9" name="Shape 7"/>
          <p:cNvSpPr/>
          <p:nvPr/>
        </p:nvSpPr>
        <p:spPr>
          <a:xfrm>
            <a:off x="566928" y="1810512"/>
            <a:ext cx="11057839" cy="768096"/>
          </a:xfrm>
          <a:prstGeom prst="rect">
            <a:avLst/>
          </a:prstGeom>
          <a:solidFill>
            <a:srgbClr val="E7EDE9"/>
          </a:solidFill>
          <a:ln w="6350">
            <a:solidFill>
              <a:srgbClr val="C4D0C8"/>
            </a:solidFill>
            <a:prstDash val="solid"/>
          </a:ln>
        </p:spPr>
      </p:sp>
      <p:sp>
        <p:nvSpPr>
          <p:cNvPr id="10" name="Text 8"/>
          <p:cNvSpPr txBox="1"/>
          <p:nvPr/>
        </p:nvSpPr>
        <p:spPr>
          <a:xfrm>
            <a:off x="731520" y="1810512"/>
            <a:ext cx="3017520" cy="768096"/>
          </a:xfrm>
          <a:prstGeom prst="rect">
            <a:avLst/>
          </a:prstGeom>
          <a:noFill/>
          <a:ln/>
        </p:spPr>
        <p:txBody>
          <a:bodyPr wrap="square" lIns="0" tIns="0" rIns="0" bIns="0" rtlCol="0" anchor="ctr"/>
          <a:lstStyle/>
          <a:p>
            <a:pPr marL="0" indent="0">
              <a:buNone/>
            </a:pPr>
            <a:r>
              <a:rPr lang="en-US" sz="1200" b="1" dirty="0">
                <a:solidFill>
                  <a:srgbClr val="0E1A16"/>
                </a:solidFill>
                <a:latin typeface="Calibri" pitchFamily="34" charset="0"/>
                <a:ea typeface="Calibri" pitchFamily="34" charset="-122"/>
                <a:cs typeface="Calibri" pitchFamily="34" charset="-120"/>
              </a:rPr>
              <a:t>DRISHTI geo-tag feed</a:t>
            </a:r>
            <a:endParaRPr lang="en-US" sz="1200" dirty="0"/>
          </a:p>
        </p:txBody>
      </p:sp>
      <p:sp>
        <p:nvSpPr>
          <p:cNvPr id="11" name="Text 9"/>
          <p:cNvSpPr txBox="1"/>
          <p:nvPr/>
        </p:nvSpPr>
        <p:spPr>
          <a:xfrm>
            <a:off x="3858768" y="1810512"/>
            <a:ext cx="5852160" cy="768096"/>
          </a:xfrm>
          <a:prstGeom prst="rect">
            <a:avLst/>
          </a:prstGeom>
          <a:noFill/>
          <a:ln/>
        </p:spPr>
        <p:txBody>
          <a:bodyPr wrap="square" lIns="0" tIns="0" rIns="0" bIns="0" rtlCol="0" anchor="ctr"/>
          <a:lstStyle/>
          <a:p>
            <a:pPr marL="0" indent="0">
              <a:lnSpc>
                <a:spcPts val="1500"/>
              </a:lnSpc>
              <a:buNone/>
            </a:pPr>
            <a:r>
              <a:rPr lang="en-US" sz="1100" dirty="0">
                <a:solidFill>
                  <a:srgbClr val="55665D"/>
                </a:solidFill>
                <a:latin typeface="Calibri" pitchFamily="34" charset="0"/>
                <a:ea typeface="Calibri" pitchFamily="34" charset="-122"/>
                <a:cs typeface="Calibri" pitchFamily="34" charset="-120"/>
              </a:rPr>
              <a:t>A corpus faithful to NRSC’s published DRISHTI field schema — lat, lon, GPS accuracy, orientation, timestamp, activity, survey no., status</a:t>
            </a:r>
            <a:endParaRPr lang="en-US" sz="1100" dirty="0"/>
          </a:p>
        </p:txBody>
      </p:sp>
      <p:sp>
        <p:nvSpPr>
          <p:cNvPr id="12" name="Text 10"/>
          <p:cNvSpPr txBox="1"/>
          <p:nvPr/>
        </p:nvSpPr>
        <p:spPr>
          <a:xfrm>
            <a:off x="9848088" y="1810512"/>
            <a:ext cx="1737360" cy="768096"/>
          </a:xfrm>
          <a:prstGeom prst="rect">
            <a:avLst/>
          </a:prstGeom>
          <a:noFill/>
          <a:ln/>
        </p:spPr>
        <p:txBody>
          <a:bodyPr wrap="square" lIns="0" tIns="0" rIns="0" bIns="0" rtlCol="0" anchor="ctr"/>
          <a:lstStyle/>
          <a:p>
            <a:pPr marL="0" indent="0">
              <a:buNone/>
            </a:pPr>
            <a:r>
              <a:rPr lang="en-US" sz="1100" b="1" dirty="0">
                <a:solidFill>
                  <a:srgbClr val="2C5A4B"/>
                </a:solidFill>
                <a:latin typeface="Calibri" pitchFamily="34" charset="0"/>
                <a:ea typeface="Calibri" pitchFamily="34" charset="-122"/>
                <a:cs typeface="Calibri" pitchFamily="34" charset="-120"/>
              </a:rPr>
              <a:t>one driver class</a:t>
            </a:r>
            <a:endParaRPr lang="en-US" sz="1100" dirty="0"/>
          </a:p>
        </p:txBody>
      </p:sp>
      <p:sp>
        <p:nvSpPr>
          <p:cNvPr id="13" name="Shape 11"/>
          <p:cNvSpPr/>
          <p:nvPr/>
        </p:nvSpPr>
        <p:spPr>
          <a:xfrm>
            <a:off x="566928" y="2578608"/>
            <a:ext cx="11057839" cy="768096"/>
          </a:xfrm>
          <a:prstGeom prst="rect">
            <a:avLst/>
          </a:prstGeom>
          <a:solidFill>
            <a:srgbClr val="FFFFFF"/>
          </a:solidFill>
          <a:ln w="6350">
            <a:solidFill>
              <a:srgbClr val="C4D0C8"/>
            </a:solidFill>
            <a:prstDash val="solid"/>
          </a:ln>
        </p:spPr>
      </p:sp>
      <p:sp>
        <p:nvSpPr>
          <p:cNvPr id="14" name="Text 12"/>
          <p:cNvSpPr txBox="1"/>
          <p:nvPr/>
        </p:nvSpPr>
        <p:spPr>
          <a:xfrm>
            <a:off x="731520" y="2578608"/>
            <a:ext cx="3017520" cy="768096"/>
          </a:xfrm>
          <a:prstGeom prst="rect">
            <a:avLst/>
          </a:prstGeom>
          <a:noFill/>
          <a:ln/>
        </p:spPr>
        <p:txBody>
          <a:bodyPr wrap="square" lIns="0" tIns="0" rIns="0" bIns="0" rtlCol="0" anchor="ctr"/>
          <a:lstStyle/>
          <a:p>
            <a:pPr marL="0" indent="0">
              <a:buNone/>
            </a:pPr>
            <a:r>
              <a:rPr lang="en-US" sz="1200" b="1" dirty="0">
                <a:solidFill>
                  <a:srgbClr val="0E1A16"/>
                </a:solidFill>
                <a:latin typeface="Calibri" pitchFamily="34" charset="0"/>
                <a:ea typeface="Calibri" pitchFamily="34" charset="-122"/>
                <a:cs typeface="Calibri" pitchFamily="34" charset="-120"/>
              </a:rPr>
              <a:t>“SRISHTI-DRISHTI 30 m imagery”</a:t>
            </a:r>
            <a:endParaRPr lang="en-US" sz="1200" dirty="0"/>
          </a:p>
        </p:txBody>
      </p:sp>
      <p:sp>
        <p:nvSpPr>
          <p:cNvPr id="15" name="Text 13"/>
          <p:cNvSpPr txBox="1"/>
          <p:nvPr/>
        </p:nvSpPr>
        <p:spPr>
          <a:xfrm>
            <a:off x="3858768" y="2578608"/>
            <a:ext cx="5852160" cy="768096"/>
          </a:xfrm>
          <a:prstGeom prst="rect">
            <a:avLst/>
          </a:prstGeom>
          <a:noFill/>
          <a:ln/>
        </p:spPr>
        <p:txBody>
          <a:bodyPr wrap="square" lIns="0" tIns="0" rIns="0" bIns="0" rtlCol="0" anchor="ctr"/>
          <a:lstStyle/>
          <a:p>
            <a:pPr marL="0" indent="0">
              <a:lnSpc>
                <a:spcPts val="1500"/>
              </a:lnSpc>
              <a:buNone/>
            </a:pPr>
            <a:r>
              <a:rPr lang="en-US" sz="1100" dirty="0">
                <a:solidFill>
                  <a:srgbClr val="55665D"/>
                </a:solidFill>
                <a:latin typeface="Calibri" pitchFamily="34" charset="0"/>
                <a:ea typeface="Calibri" pitchFamily="34" charset="-122"/>
                <a:cs typeface="Calibri" pitchFamily="34" charset="-120"/>
              </a:rPr>
              <a:t>NASA HLS 30 m + Landsat 30 m + Resourcesat through the NRSC Bhoonidhi STAC API</a:t>
            </a:r>
            <a:endParaRPr lang="en-US" sz="1100" dirty="0"/>
          </a:p>
        </p:txBody>
      </p:sp>
      <p:sp>
        <p:nvSpPr>
          <p:cNvPr id="16" name="Text 14"/>
          <p:cNvSpPr txBox="1"/>
          <p:nvPr/>
        </p:nvSpPr>
        <p:spPr>
          <a:xfrm>
            <a:off x="9848088" y="2578608"/>
            <a:ext cx="1737360" cy="768096"/>
          </a:xfrm>
          <a:prstGeom prst="rect">
            <a:avLst/>
          </a:prstGeom>
          <a:noFill/>
          <a:ln/>
        </p:spPr>
        <p:txBody>
          <a:bodyPr wrap="square" lIns="0" tIns="0" rIns="0" bIns="0" rtlCol="0" anchor="ctr"/>
          <a:lstStyle/>
          <a:p>
            <a:pPr marL="0" indent="0">
              <a:buNone/>
            </a:pPr>
            <a:r>
              <a:rPr lang="en-US" sz="1100" b="1" dirty="0">
                <a:solidFill>
                  <a:srgbClr val="2C5A4B"/>
                </a:solidFill>
                <a:latin typeface="Calibri" pitchFamily="34" charset="0"/>
                <a:ea typeface="Calibri" pitchFamily="34" charset="-122"/>
                <a:cs typeface="Calibri" pitchFamily="34" charset="-120"/>
              </a:rPr>
              <a:t>one driver class</a:t>
            </a:r>
            <a:endParaRPr lang="en-US" sz="1100" dirty="0"/>
          </a:p>
        </p:txBody>
      </p:sp>
      <p:sp>
        <p:nvSpPr>
          <p:cNvPr id="17" name="Shape 15"/>
          <p:cNvSpPr/>
          <p:nvPr/>
        </p:nvSpPr>
        <p:spPr>
          <a:xfrm>
            <a:off x="566928" y="3346704"/>
            <a:ext cx="11057839" cy="768096"/>
          </a:xfrm>
          <a:prstGeom prst="rect">
            <a:avLst/>
          </a:prstGeom>
          <a:solidFill>
            <a:srgbClr val="E7EDE9"/>
          </a:solidFill>
          <a:ln w="6350">
            <a:solidFill>
              <a:srgbClr val="C4D0C8"/>
            </a:solidFill>
            <a:prstDash val="solid"/>
          </a:ln>
        </p:spPr>
      </p:sp>
      <p:sp>
        <p:nvSpPr>
          <p:cNvPr id="18" name="Text 16"/>
          <p:cNvSpPr txBox="1"/>
          <p:nvPr/>
        </p:nvSpPr>
        <p:spPr>
          <a:xfrm>
            <a:off x="731520" y="3346704"/>
            <a:ext cx="3017520" cy="768096"/>
          </a:xfrm>
          <a:prstGeom prst="rect">
            <a:avLst/>
          </a:prstGeom>
          <a:noFill/>
          <a:ln/>
        </p:spPr>
        <p:txBody>
          <a:bodyPr wrap="square" lIns="0" tIns="0" rIns="0" bIns="0" rtlCol="0" anchor="ctr"/>
          <a:lstStyle/>
          <a:p>
            <a:pPr marL="0" indent="0">
              <a:buNone/>
            </a:pPr>
            <a:r>
              <a:rPr lang="en-US" sz="1200" b="1" dirty="0">
                <a:solidFill>
                  <a:srgbClr val="0E1A16"/>
                </a:solidFill>
                <a:latin typeface="Calibri" pitchFamily="34" charset="0"/>
                <a:ea typeface="Calibri" pitchFamily="34" charset="-122"/>
                <a:cs typeface="Calibri" pitchFamily="34" charset="-120"/>
              </a:rPr>
              <a:t>WDC-PMKSY MIS records</a:t>
            </a:r>
            <a:endParaRPr lang="en-US" sz="1200" dirty="0"/>
          </a:p>
        </p:txBody>
      </p:sp>
      <p:sp>
        <p:nvSpPr>
          <p:cNvPr id="19" name="Text 17"/>
          <p:cNvSpPr txBox="1"/>
          <p:nvPr/>
        </p:nvSpPr>
        <p:spPr>
          <a:xfrm>
            <a:off x="3858768" y="3346704"/>
            <a:ext cx="5852160" cy="768096"/>
          </a:xfrm>
          <a:prstGeom prst="rect">
            <a:avLst/>
          </a:prstGeom>
          <a:noFill/>
          <a:ln/>
        </p:spPr>
        <p:txBody>
          <a:bodyPr wrap="square" lIns="0" tIns="0" rIns="0" bIns="0" rtlCol="0" anchor="ctr"/>
          <a:lstStyle/>
          <a:p>
            <a:pPr marL="0" indent="0">
              <a:lnSpc>
                <a:spcPts val="1500"/>
              </a:lnSpc>
              <a:buNone/>
            </a:pPr>
            <a:r>
              <a:rPr lang="en-US" sz="1100" dirty="0">
                <a:solidFill>
                  <a:srgbClr val="55665D"/>
                </a:solidFill>
                <a:latin typeface="Calibri" pitchFamily="34" charset="0"/>
                <a:ea typeface="Calibri" pitchFamily="34" charset="-122"/>
                <a:cs typeface="Calibri" pitchFamily="34" charset="-120"/>
              </a:rPr>
              <a:t>CSV import matching the MIS columns, keyed on the government’s own unique_id</a:t>
            </a:r>
            <a:endParaRPr lang="en-US" sz="1100" dirty="0"/>
          </a:p>
        </p:txBody>
      </p:sp>
      <p:sp>
        <p:nvSpPr>
          <p:cNvPr id="20" name="Text 18"/>
          <p:cNvSpPr txBox="1"/>
          <p:nvPr/>
        </p:nvSpPr>
        <p:spPr>
          <a:xfrm>
            <a:off x="9848088" y="3346704"/>
            <a:ext cx="1737360" cy="768096"/>
          </a:xfrm>
          <a:prstGeom prst="rect">
            <a:avLst/>
          </a:prstGeom>
          <a:noFill/>
          <a:ln/>
        </p:spPr>
        <p:txBody>
          <a:bodyPr wrap="square" lIns="0" tIns="0" rIns="0" bIns="0" rtlCol="0" anchor="ctr"/>
          <a:lstStyle/>
          <a:p>
            <a:pPr marL="0" indent="0">
              <a:buNone/>
            </a:pPr>
            <a:r>
              <a:rPr lang="en-US" sz="1100" b="1" dirty="0">
                <a:solidFill>
                  <a:srgbClr val="2C5A4B"/>
                </a:solidFill>
                <a:latin typeface="Calibri" pitchFamily="34" charset="0"/>
                <a:ea typeface="Calibri" pitchFamily="34" charset="-122"/>
                <a:cs typeface="Calibri" pitchFamily="34" charset="-120"/>
              </a:rPr>
              <a:t>configuration only</a:t>
            </a:r>
            <a:endParaRPr lang="en-US" sz="1100" dirty="0"/>
          </a:p>
        </p:txBody>
      </p:sp>
      <p:sp>
        <p:nvSpPr>
          <p:cNvPr id="21" name="Shape 19"/>
          <p:cNvSpPr/>
          <p:nvPr/>
        </p:nvSpPr>
        <p:spPr>
          <a:xfrm>
            <a:off x="566928" y="4114800"/>
            <a:ext cx="11057839" cy="768096"/>
          </a:xfrm>
          <a:prstGeom prst="rect">
            <a:avLst/>
          </a:prstGeom>
          <a:solidFill>
            <a:srgbClr val="FFFFFF"/>
          </a:solidFill>
          <a:ln w="6350">
            <a:solidFill>
              <a:srgbClr val="C4D0C8"/>
            </a:solidFill>
            <a:prstDash val="solid"/>
          </a:ln>
        </p:spPr>
      </p:sp>
      <p:sp>
        <p:nvSpPr>
          <p:cNvPr id="22" name="Text 20"/>
          <p:cNvSpPr txBox="1"/>
          <p:nvPr/>
        </p:nvSpPr>
        <p:spPr>
          <a:xfrm>
            <a:off x="731520" y="4114800"/>
            <a:ext cx="3017520" cy="768096"/>
          </a:xfrm>
          <a:prstGeom prst="rect">
            <a:avLst/>
          </a:prstGeom>
          <a:noFill/>
          <a:ln/>
        </p:spPr>
        <p:txBody>
          <a:bodyPr wrap="square" lIns="0" tIns="0" rIns="0" bIns="0" rtlCol="0" anchor="ctr"/>
          <a:lstStyle/>
          <a:p>
            <a:pPr marL="0" indent="0">
              <a:buNone/>
            </a:pPr>
            <a:r>
              <a:rPr lang="en-US" sz="1200" b="1" dirty="0">
                <a:solidFill>
                  <a:srgbClr val="0E1A16"/>
                </a:solidFill>
                <a:latin typeface="Calibri" pitchFamily="34" charset="0"/>
                <a:ea typeface="Calibri" pitchFamily="34" charset="-122"/>
                <a:cs typeface="Calibri" pitchFamily="34" charset="-120"/>
              </a:rPr>
              <a:t>SRISHTI project boundaries</a:t>
            </a:r>
            <a:endParaRPr lang="en-US" sz="1200" dirty="0"/>
          </a:p>
        </p:txBody>
      </p:sp>
      <p:sp>
        <p:nvSpPr>
          <p:cNvPr id="23" name="Text 21"/>
          <p:cNvSpPr txBox="1"/>
          <p:nvPr/>
        </p:nvSpPr>
        <p:spPr>
          <a:xfrm>
            <a:off x="3858768" y="4114800"/>
            <a:ext cx="5852160" cy="768096"/>
          </a:xfrm>
          <a:prstGeom prst="rect">
            <a:avLst/>
          </a:prstGeom>
          <a:noFill/>
          <a:ln/>
        </p:spPr>
        <p:txBody>
          <a:bodyPr wrap="square" lIns="0" tIns="0" rIns="0" bIns="0" rtlCol="0" anchor="ctr"/>
          <a:lstStyle/>
          <a:p>
            <a:pPr marL="0" indent="0">
              <a:lnSpc>
                <a:spcPts val="1500"/>
              </a:lnSpc>
              <a:buNone/>
            </a:pPr>
            <a:r>
              <a:rPr lang="en-US" sz="1100" dirty="0">
                <a:solidFill>
                  <a:srgbClr val="55665D"/>
                </a:solidFill>
                <a:latin typeface="Calibri" pitchFamily="34" charset="0"/>
                <a:ea typeface="Calibri" pitchFamily="34" charset="-122"/>
                <a:cs typeface="Calibri" pitchFamily="34" charset="-120"/>
              </a:rPr>
              <a:t>SLUSI micro-watershed polygons — already the same geometry family</a:t>
            </a:r>
            <a:endParaRPr lang="en-US" sz="1100" dirty="0"/>
          </a:p>
        </p:txBody>
      </p:sp>
      <p:sp>
        <p:nvSpPr>
          <p:cNvPr id="24" name="Text 22"/>
          <p:cNvSpPr txBox="1"/>
          <p:nvPr/>
        </p:nvSpPr>
        <p:spPr>
          <a:xfrm>
            <a:off x="9848088" y="4114800"/>
            <a:ext cx="1737360" cy="768096"/>
          </a:xfrm>
          <a:prstGeom prst="rect">
            <a:avLst/>
          </a:prstGeom>
          <a:noFill/>
          <a:ln/>
        </p:spPr>
        <p:txBody>
          <a:bodyPr wrap="square" lIns="0" tIns="0" rIns="0" bIns="0" rtlCol="0" anchor="ctr"/>
          <a:lstStyle/>
          <a:p>
            <a:pPr marL="0" indent="0">
              <a:buNone/>
            </a:pPr>
            <a:r>
              <a:rPr lang="en-US" sz="1100" b="1" dirty="0">
                <a:solidFill>
                  <a:srgbClr val="2C5A4B"/>
                </a:solidFill>
                <a:latin typeface="Calibri" pitchFamily="34" charset="0"/>
                <a:ea typeface="Calibri" pitchFamily="34" charset="-122"/>
                <a:cs typeface="Calibri" pitchFamily="34" charset="-120"/>
              </a:rPr>
              <a:t>none</a:t>
            </a:r>
            <a:endParaRPr lang="en-US" sz="1100" dirty="0"/>
          </a:p>
        </p:txBody>
      </p:sp>
      <p:sp>
        <p:nvSpPr>
          <p:cNvPr id="25" name="Shape 23"/>
          <p:cNvSpPr/>
          <p:nvPr/>
        </p:nvSpPr>
        <p:spPr>
          <a:xfrm>
            <a:off x="566928" y="5029200"/>
            <a:ext cx="5394960" cy="1280160"/>
          </a:xfrm>
          <a:prstGeom prst="roundRect">
            <a:avLst>
              <a:gd name="adj" fmla="val 4286"/>
            </a:avLst>
          </a:prstGeom>
          <a:solidFill>
            <a:srgbClr val="FFFFFF"/>
          </a:solidFill>
          <a:ln w="12700">
            <a:solidFill>
              <a:srgbClr val="C4D0C8"/>
            </a:solidFill>
            <a:prstDash val="solid"/>
          </a:ln>
        </p:spPr>
        <p:txBody>
          <a:bodyPr/>
          <a:lstStyle/>
          <a:p>
            <a:endParaRPr lang="en-US" dirty="0"/>
          </a:p>
        </p:txBody>
      </p:sp>
      <p:sp>
        <p:nvSpPr>
          <p:cNvPr id="26" name="Text 24"/>
          <p:cNvSpPr txBox="1"/>
          <p:nvPr/>
        </p:nvSpPr>
        <p:spPr>
          <a:xfrm>
            <a:off x="786384" y="5029200"/>
            <a:ext cx="4937760" cy="256032"/>
          </a:xfrm>
          <a:prstGeom prst="rect">
            <a:avLst/>
          </a:prstGeom>
          <a:noFill/>
          <a:ln/>
        </p:spPr>
        <p:txBody>
          <a:bodyPr wrap="square" lIns="0" tIns="0" rIns="0" bIns="0" rtlCol="0" anchor="ctr"/>
          <a:lstStyle/>
          <a:p>
            <a:pPr marL="0" indent="0">
              <a:buNone/>
            </a:pPr>
            <a:r>
              <a:rPr lang="en-US" sz="1000" b="1" kern="0" spc="130" dirty="0">
                <a:solidFill>
                  <a:srgbClr val="146275"/>
                </a:solidFill>
                <a:latin typeface="Calibri" pitchFamily="34" charset="0"/>
                <a:ea typeface="Calibri" pitchFamily="34" charset="-122"/>
                <a:cs typeface="Calibri" pitchFamily="34" charset="-120"/>
              </a:rPr>
              <a:t>VERIFIED, OPEN, PROGRAMMATIC</a:t>
            </a:r>
            <a:endParaRPr lang="en-US" sz="1000" dirty="0"/>
          </a:p>
        </p:txBody>
      </p:sp>
      <p:sp>
        <p:nvSpPr>
          <p:cNvPr id="27" name="Text 25"/>
          <p:cNvSpPr txBox="1"/>
          <p:nvPr/>
        </p:nvSpPr>
        <p:spPr>
          <a:xfrm>
            <a:off x="786384" y="5303520"/>
            <a:ext cx="4937760" cy="786384"/>
          </a:xfrm>
          <a:prstGeom prst="rect">
            <a:avLst/>
          </a:prstGeom>
          <a:noFill/>
          <a:ln/>
        </p:spPr>
        <p:txBody>
          <a:bodyPr wrap="square" lIns="0" tIns="0" rIns="0" bIns="0" rtlCol="0" anchor="ctr"/>
          <a:lstStyle/>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NASA HLS 30 m (STAC)  ·  Copernicus Sentinel-2 (STAC)  ·  NRSC Bhoonidhi</a:t>
            </a:r>
            <a:endParaRPr lang="en-US" sz="1050" dirty="0"/>
          </a:p>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API (JWT + STAC; open above 5 m under Indian Space Policy 2023)</a:t>
            </a:r>
            <a:endParaRPr lang="en-US" sz="1050" dirty="0"/>
          </a:p>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Bhuvan OGC WMS  ·  JRC Global Surface Water  ·  CartoDEM</a:t>
            </a:r>
            <a:endParaRPr lang="en-US" sz="1050" dirty="0"/>
          </a:p>
        </p:txBody>
      </p:sp>
      <p:sp>
        <p:nvSpPr>
          <p:cNvPr id="28" name="Shape 26"/>
          <p:cNvSpPr/>
          <p:nvPr/>
        </p:nvSpPr>
        <p:spPr>
          <a:xfrm>
            <a:off x="6238951" y="5029200"/>
            <a:ext cx="5385816" cy="1280160"/>
          </a:xfrm>
          <a:prstGeom prst="roundRect">
            <a:avLst>
              <a:gd name="adj" fmla="val 4286"/>
            </a:avLst>
          </a:prstGeom>
          <a:solidFill>
            <a:srgbClr val="FFFFFF"/>
          </a:solidFill>
          <a:ln w="12700">
            <a:solidFill>
              <a:srgbClr val="92321F"/>
            </a:solidFill>
            <a:prstDash val="solid"/>
          </a:ln>
        </p:spPr>
      </p:sp>
      <p:sp>
        <p:nvSpPr>
          <p:cNvPr id="29" name="Text 27"/>
          <p:cNvSpPr txBox="1"/>
          <p:nvPr/>
        </p:nvSpPr>
        <p:spPr>
          <a:xfrm>
            <a:off x="6455664" y="5029200"/>
            <a:ext cx="4937760" cy="256032"/>
          </a:xfrm>
          <a:prstGeom prst="rect">
            <a:avLst/>
          </a:prstGeom>
          <a:noFill/>
          <a:ln/>
        </p:spPr>
        <p:txBody>
          <a:bodyPr wrap="square" lIns="0" tIns="0" rIns="0" bIns="0" rtlCol="0" anchor="ctr"/>
          <a:lstStyle/>
          <a:p>
            <a:pPr marL="0" indent="0">
              <a:buNone/>
            </a:pPr>
            <a:r>
              <a:rPr lang="en-US" sz="1000" b="1" kern="0" spc="130" dirty="0">
                <a:solidFill>
                  <a:srgbClr val="92321F"/>
                </a:solidFill>
                <a:latin typeface="Calibri" pitchFamily="34" charset="0"/>
                <a:ea typeface="Calibri" pitchFamily="34" charset="-122"/>
                <a:cs typeface="Calibri" pitchFamily="34" charset="-120"/>
              </a:rPr>
              <a:t>WE COULD NOT FIND A PUBLIC SRISHTI-DRISHTI API</a:t>
            </a:r>
            <a:endParaRPr lang="en-US" sz="1000" dirty="0"/>
          </a:p>
        </p:txBody>
      </p:sp>
      <p:sp>
        <p:nvSpPr>
          <p:cNvPr id="30" name="Text 28"/>
          <p:cNvSpPr txBox="1"/>
          <p:nvPr/>
        </p:nvSpPr>
        <p:spPr>
          <a:xfrm>
            <a:off x="6455664" y="5303520"/>
            <a:ext cx="4937760" cy="786384"/>
          </a:xfrm>
          <a:prstGeom prst="rect">
            <a:avLst/>
          </a:prstGeom>
          <a:noFill/>
          <a:ln/>
        </p:spPr>
        <p:txBody>
          <a:bodyPr wrap="square" lIns="0" tIns="0" rIns="0" bIns="0" rtlCol="0" anchor="ctr"/>
          <a:lstStyle/>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So we are not going to pretend we did. We built to NRSC’s published field</a:t>
            </a:r>
            <a:endParaRPr lang="en-US" sz="1050" dirty="0"/>
          </a:p>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schema instead — which makes integration a configuration change on the day</a:t>
            </a:r>
            <a:endParaRPr lang="en-US" sz="1050" dirty="0"/>
          </a:p>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the Department grants access, not a rewrite.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16"/>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63BECD"/>
                </a:solidFill>
                <a:latin typeface="Calibri" pitchFamily="34" charset="0"/>
                <a:ea typeface="Calibri" pitchFamily="34" charset="-122"/>
                <a:cs typeface="Calibri" pitchFamily="34" charset="-120"/>
              </a:rPr>
              <a:t>CLOSING</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6E8E7B"/>
                </a:solidFill>
                <a:latin typeface="Calibri" pitchFamily="34" charset="0"/>
                <a:ea typeface="Calibri" pitchFamily="34" charset="-122"/>
                <a:cs typeface="Calibri" pitchFamily="34" charset="-120"/>
              </a:rPr>
              <a:t>13</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FFFFFF"/>
                </a:solidFill>
                <a:latin typeface="Cambria" pitchFamily="34" charset="0"/>
                <a:ea typeface="Cambria" pitchFamily="34" charset="-122"/>
                <a:cs typeface="Cambria" pitchFamily="34" charset="-120"/>
              </a:rPr>
              <a:t>The officer decides. The system shows its work.</a:t>
            </a:r>
            <a:endParaRPr lang="en-US" sz="3300" dirty="0"/>
          </a:p>
        </p:txBody>
      </p:sp>
      <p:sp>
        <p:nvSpPr>
          <p:cNvPr id="5" name="Shape 3"/>
          <p:cNvSpPr/>
          <p:nvPr/>
        </p:nvSpPr>
        <p:spPr>
          <a:xfrm>
            <a:off x="566928" y="1700784"/>
            <a:ext cx="5806440" cy="3310128"/>
          </a:xfrm>
          <a:prstGeom prst="roundRect">
            <a:avLst>
              <a:gd name="adj" fmla="val 1657"/>
            </a:avLst>
          </a:prstGeom>
          <a:solidFill>
            <a:srgbClr val="16261F"/>
          </a:solidFill>
          <a:ln w="12700">
            <a:solidFill>
              <a:srgbClr val="1E332A"/>
            </a:solidFill>
            <a:prstDash val="solid"/>
          </a:ln>
        </p:spPr>
      </p:sp>
      <p:sp>
        <p:nvSpPr>
          <p:cNvPr id="6" name="Text 4"/>
          <p:cNvSpPr txBox="1"/>
          <p:nvPr/>
        </p:nvSpPr>
        <p:spPr>
          <a:xfrm>
            <a:off x="841248" y="1883664"/>
            <a:ext cx="5303520" cy="256032"/>
          </a:xfrm>
          <a:prstGeom prst="rect">
            <a:avLst/>
          </a:prstGeom>
          <a:noFill/>
          <a:ln/>
        </p:spPr>
        <p:txBody>
          <a:bodyPr wrap="square" lIns="0" tIns="0" rIns="0" bIns="0" rtlCol="0" anchor="ctr"/>
          <a:lstStyle/>
          <a:p>
            <a:pPr marL="0" indent="0">
              <a:buNone/>
            </a:pPr>
            <a:r>
              <a:rPr lang="en-US" sz="950" b="1" kern="0" spc="160" dirty="0">
                <a:solidFill>
                  <a:srgbClr val="8FB996"/>
                </a:solidFill>
                <a:latin typeface="Calibri" pitchFamily="34" charset="0"/>
                <a:ea typeface="Calibri" pitchFamily="34" charset="-122"/>
                <a:cs typeface="Calibri" pitchFamily="34" charset="-120"/>
              </a:rPr>
              <a:t>ADJUDICATION</a:t>
            </a:r>
            <a:endParaRPr lang="en-US" sz="950" dirty="0"/>
          </a:p>
        </p:txBody>
      </p:sp>
      <p:sp>
        <p:nvSpPr>
          <p:cNvPr id="7" name="Shape 5"/>
          <p:cNvSpPr/>
          <p:nvPr/>
        </p:nvSpPr>
        <p:spPr>
          <a:xfrm>
            <a:off x="841248" y="2194560"/>
            <a:ext cx="1645920" cy="365760"/>
          </a:xfrm>
          <a:prstGeom prst="roundRect">
            <a:avLst>
              <a:gd name="adj" fmla="val 50000"/>
            </a:avLst>
          </a:prstGeom>
          <a:solidFill>
            <a:srgbClr val="2F7D5F"/>
          </a:solidFill>
          <a:ln w="12700">
            <a:solidFill>
              <a:srgbClr val="2F7D5F"/>
            </a:solidFill>
            <a:prstDash val="solid"/>
          </a:ln>
        </p:spPr>
      </p:sp>
      <p:sp>
        <p:nvSpPr>
          <p:cNvPr id="8" name="Text 6"/>
          <p:cNvSpPr txBox="1"/>
          <p:nvPr/>
        </p:nvSpPr>
        <p:spPr>
          <a:xfrm>
            <a:off x="841248" y="2194560"/>
            <a:ext cx="16459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ACCEPT</a:t>
            </a:r>
            <a:endParaRPr lang="en-US" sz="1050" dirty="0"/>
          </a:p>
        </p:txBody>
      </p:sp>
      <p:sp>
        <p:nvSpPr>
          <p:cNvPr id="9" name="Shape 7"/>
          <p:cNvSpPr/>
          <p:nvPr/>
        </p:nvSpPr>
        <p:spPr>
          <a:xfrm>
            <a:off x="2624328" y="2194560"/>
            <a:ext cx="1645920" cy="365760"/>
          </a:xfrm>
          <a:prstGeom prst="roundRect">
            <a:avLst>
              <a:gd name="adj" fmla="val 50000"/>
            </a:avLst>
          </a:prstGeom>
          <a:solidFill>
            <a:srgbClr val="9E5C13"/>
          </a:solidFill>
          <a:ln w="12700">
            <a:solidFill>
              <a:srgbClr val="9E5C13"/>
            </a:solidFill>
            <a:prstDash val="solid"/>
          </a:ln>
        </p:spPr>
      </p:sp>
      <p:sp>
        <p:nvSpPr>
          <p:cNvPr id="10" name="Text 8"/>
          <p:cNvSpPr txBox="1"/>
          <p:nvPr/>
        </p:nvSpPr>
        <p:spPr>
          <a:xfrm>
            <a:off x="2624328" y="2194560"/>
            <a:ext cx="16459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EDIT</a:t>
            </a:r>
            <a:endParaRPr lang="en-US" sz="1050" dirty="0"/>
          </a:p>
        </p:txBody>
      </p:sp>
      <p:sp>
        <p:nvSpPr>
          <p:cNvPr id="11" name="Shape 9"/>
          <p:cNvSpPr/>
          <p:nvPr/>
        </p:nvSpPr>
        <p:spPr>
          <a:xfrm>
            <a:off x="4407408" y="2194560"/>
            <a:ext cx="1645920" cy="365760"/>
          </a:xfrm>
          <a:prstGeom prst="roundRect">
            <a:avLst>
              <a:gd name="adj" fmla="val 50000"/>
            </a:avLst>
          </a:prstGeom>
          <a:solidFill>
            <a:srgbClr val="92321F"/>
          </a:solidFill>
          <a:ln w="12700">
            <a:solidFill>
              <a:srgbClr val="92321F"/>
            </a:solidFill>
            <a:prstDash val="solid"/>
          </a:ln>
        </p:spPr>
      </p:sp>
      <p:sp>
        <p:nvSpPr>
          <p:cNvPr id="12" name="Text 10"/>
          <p:cNvSpPr txBox="1"/>
          <p:nvPr/>
        </p:nvSpPr>
        <p:spPr>
          <a:xfrm>
            <a:off x="4407408" y="2194560"/>
            <a:ext cx="16459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REJECT</a:t>
            </a:r>
            <a:endParaRPr lang="en-US" sz="1050" dirty="0"/>
          </a:p>
        </p:txBody>
      </p:sp>
      <p:sp>
        <p:nvSpPr>
          <p:cNvPr id="13" name="Shape 11"/>
          <p:cNvSpPr/>
          <p:nvPr/>
        </p:nvSpPr>
        <p:spPr>
          <a:xfrm>
            <a:off x="841248" y="2798064"/>
            <a:ext cx="5257800" cy="0"/>
          </a:xfrm>
          <a:prstGeom prst="line">
            <a:avLst/>
          </a:prstGeom>
          <a:noFill/>
          <a:ln w="12700">
            <a:solidFill>
              <a:srgbClr val="1E332A"/>
            </a:solidFill>
            <a:prstDash val="solid"/>
          </a:ln>
        </p:spPr>
      </p:sp>
      <p:sp>
        <p:nvSpPr>
          <p:cNvPr id="14" name="Text 12"/>
          <p:cNvSpPr txBox="1"/>
          <p:nvPr/>
        </p:nvSpPr>
        <p:spPr>
          <a:xfrm>
            <a:off x="841248" y="2926080"/>
            <a:ext cx="5257800" cy="548640"/>
          </a:xfrm>
          <a:prstGeom prst="rect">
            <a:avLst/>
          </a:prstGeom>
          <a:noFill/>
          <a:ln/>
        </p:spPr>
        <p:txBody>
          <a:bodyPr wrap="square" lIns="0" tIns="0" rIns="0" bIns="0" rtlCol="0" anchor="ctr"/>
          <a:lstStyle/>
          <a:p>
            <a:pPr marL="0" indent="0">
              <a:lnSpc>
                <a:spcPts val="1800"/>
              </a:lnSpc>
              <a:buNone/>
            </a:pPr>
            <a:r>
              <a:rPr lang="en-US" sz="1150" dirty="0">
                <a:solidFill>
                  <a:srgbClr val="D7E3DB"/>
                </a:solidFill>
                <a:latin typeface="Calibri" pitchFamily="34" charset="0"/>
                <a:ea typeface="Calibri" pitchFamily="34" charset="-122"/>
                <a:cs typeface="Calibri" pitchFamily="34" charset="-120"/>
              </a:rPr>
              <a:t>SIGNED  ·  R. Kumar, WCDC Project Manager, Nanded</a:t>
            </a:r>
            <a:endParaRPr lang="en-US" sz="1150" dirty="0"/>
          </a:p>
          <a:p>
            <a:pPr marL="0" indent="0">
              <a:lnSpc>
                <a:spcPts val="1800"/>
              </a:lnSpc>
              <a:buNone/>
            </a:pPr>
            <a:r>
              <a:rPr lang="en-US" sz="1150" dirty="0">
                <a:solidFill>
                  <a:srgbClr val="D7E3DB"/>
                </a:solidFill>
                <a:latin typeface="Calibri" pitchFamily="34" charset="0"/>
                <a:ea typeface="Calibri" pitchFamily="34" charset="-122"/>
                <a:cs typeface="Calibri" pitchFamily="34" charset="-120"/>
              </a:rPr>
              <a:t>27-Aug-2026 09:14 IST  ·  ledger hash 7f3a…9c1</a:t>
            </a:r>
            <a:endParaRPr lang="en-US" sz="1150" dirty="0"/>
          </a:p>
        </p:txBody>
      </p:sp>
      <p:sp>
        <p:nvSpPr>
          <p:cNvPr id="15" name="Text 13"/>
          <p:cNvSpPr txBox="1"/>
          <p:nvPr/>
        </p:nvSpPr>
        <p:spPr>
          <a:xfrm>
            <a:off x="841248" y="3566160"/>
            <a:ext cx="5257800" cy="548640"/>
          </a:xfrm>
          <a:prstGeom prst="rect">
            <a:avLst/>
          </a:prstGeom>
          <a:noFill/>
          <a:ln/>
        </p:spPr>
        <p:txBody>
          <a:bodyPr wrap="square" lIns="0" tIns="0" rIns="0" bIns="0" rtlCol="0" anchor="ctr"/>
          <a:lstStyle/>
          <a:p>
            <a:pPr marL="0" indent="0">
              <a:lnSpc>
                <a:spcPts val="1800"/>
              </a:lnSpc>
              <a:buNone/>
            </a:pPr>
            <a:r>
              <a:rPr lang="en-US" sz="1150" dirty="0">
                <a:solidFill>
                  <a:srgbClr val="8FB996"/>
                </a:solidFill>
                <a:latin typeface="Calibri" pitchFamily="34" charset="0"/>
                <a:ea typeface="Calibri" pitchFamily="34" charset="-122"/>
                <a:cs typeface="Calibri" pitchFamily="34" charset="-120"/>
              </a:rPr>
              <a:t>Append-only  ·  hash-chained  ·  non-repudiable</a:t>
            </a:r>
            <a:endParaRPr lang="en-US" sz="1150" dirty="0"/>
          </a:p>
          <a:p>
            <a:pPr marL="0" indent="0">
              <a:lnSpc>
                <a:spcPts val="1800"/>
              </a:lnSpc>
              <a:buNone/>
            </a:pPr>
            <a:r>
              <a:rPr lang="en-US" sz="1150" dirty="0">
                <a:solidFill>
                  <a:srgbClr val="8FB996"/>
                </a:solidFill>
                <a:latin typeface="Calibri" pitchFamily="34" charset="0"/>
                <a:ea typeface="Calibri" pitchFamily="34" charset="-122"/>
                <a:cs typeface="Calibri" pitchFamily="34" charset="-120"/>
              </a:rPr>
              <a:t>Every correction becomes a labelled sample for the next model.</a:t>
            </a:r>
            <a:endParaRPr lang="en-US" sz="1150" dirty="0"/>
          </a:p>
        </p:txBody>
      </p:sp>
      <p:sp>
        <p:nvSpPr>
          <p:cNvPr id="16" name="Text 14"/>
          <p:cNvSpPr txBox="1"/>
          <p:nvPr/>
        </p:nvSpPr>
        <p:spPr>
          <a:xfrm>
            <a:off x="841248" y="4224528"/>
            <a:ext cx="5257800" cy="566928"/>
          </a:xfrm>
          <a:prstGeom prst="rect">
            <a:avLst/>
          </a:prstGeom>
          <a:noFill/>
          <a:ln/>
        </p:spPr>
        <p:txBody>
          <a:bodyPr wrap="square" lIns="0" tIns="0" rIns="0" bIns="0" rtlCol="0" anchor="ctr"/>
          <a:lstStyle/>
          <a:p>
            <a:pPr marL="0" indent="0">
              <a:lnSpc>
                <a:spcPts val="2000"/>
              </a:lnSpc>
              <a:buNone/>
            </a:pPr>
            <a:r>
              <a:rPr lang="en-US" sz="1400" i="1" dirty="0">
                <a:solidFill>
                  <a:srgbClr val="FFFFFF"/>
                </a:solidFill>
                <a:latin typeface="Cambria" pitchFamily="34" charset="0"/>
                <a:ea typeface="Cambria" pitchFamily="34" charset="-122"/>
                <a:cs typeface="Cambria" pitchFamily="34" charset="-120"/>
              </a:rPr>
              <a:t>Nothing here becomes government evidence</a:t>
            </a:r>
            <a:endParaRPr lang="en-US" sz="1400" dirty="0"/>
          </a:p>
          <a:p>
            <a:pPr marL="0" indent="0">
              <a:lnSpc>
                <a:spcPts val="2000"/>
              </a:lnSpc>
              <a:buNone/>
            </a:pPr>
            <a:r>
              <a:rPr lang="en-US" sz="1400" i="1" dirty="0">
                <a:solidFill>
                  <a:srgbClr val="FFFFFF"/>
                </a:solidFill>
                <a:latin typeface="Cambria" pitchFamily="34" charset="0"/>
                <a:ea typeface="Cambria" pitchFamily="34" charset="-122"/>
                <a:cs typeface="Cambria" pitchFamily="34" charset="-120"/>
              </a:rPr>
              <a:t>until a named human being says it does.</a:t>
            </a:r>
            <a:endParaRPr lang="en-US" sz="1400" dirty="0"/>
          </a:p>
        </p:txBody>
      </p:sp>
      <p:sp>
        <p:nvSpPr>
          <p:cNvPr id="17" name="Text 15"/>
          <p:cNvSpPr txBox="1"/>
          <p:nvPr/>
        </p:nvSpPr>
        <p:spPr>
          <a:xfrm>
            <a:off x="6903720" y="1847088"/>
            <a:ext cx="4718304" cy="1426464"/>
          </a:xfrm>
          <a:prstGeom prst="rect">
            <a:avLst/>
          </a:prstGeom>
          <a:noFill/>
          <a:ln/>
        </p:spPr>
        <p:txBody>
          <a:bodyPr wrap="square" lIns="0" tIns="0" rIns="0" bIns="0" rtlCol="0" anchor="ctr"/>
          <a:lstStyle/>
          <a:p>
            <a:pPr marL="0" indent="0">
              <a:lnSpc>
                <a:spcPts val="2800"/>
              </a:lnSpc>
              <a:buNone/>
            </a:pPr>
            <a:r>
              <a:rPr lang="en-US" sz="2100" b="1" dirty="0">
                <a:solidFill>
                  <a:srgbClr val="FFFFFF"/>
                </a:solidFill>
                <a:latin typeface="Cambria" pitchFamily="34" charset="0"/>
                <a:ea typeface="Cambria" pitchFamily="34" charset="-122"/>
                <a:cs typeface="Cambria" pitchFamily="34" charset="-120"/>
              </a:rPr>
              <a:t>PRAMAAN is the intelligence layer</a:t>
            </a:r>
            <a:endParaRPr lang="en-US" sz="2100" dirty="0"/>
          </a:p>
          <a:p>
            <a:pPr marL="0" indent="0">
              <a:lnSpc>
                <a:spcPts val="2800"/>
              </a:lnSpc>
              <a:buNone/>
            </a:pPr>
            <a:r>
              <a:rPr lang="en-US" sz="2100" b="1" dirty="0">
                <a:solidFill>
                  <a:srgbClr val="FFFFFF"/>
                </a:solidFill>
                <a:latin typeface="Cambria" pitchFamily="34" charset="0"/>
                <a:ea typeface="Cambria" pitchFamily="34" charset="-122"/>
                <a:cs typeface="Cambria" pitchFamily="34" charset="-120"/>
              </a:rPr>
              <a:t>DoLR’s own guidelines already asked for.</a:t>
            </a:r>
            <a:endParaRPr lang="en-US" sz="2100" dirty="0"/>
          </a:p>
        </p:txBody>
      </p:sp>
      <p:sp>
        <p:nvSpPr>
          <p:cNvPr id="18" name="Shape 16"/>
          <p:cNvSpPr/>
          <p:nvPr/>
        </p:nvSpPr>
        <p:spPr>
          <a:xfrm>
            <a:off x="6903720" y="3383280"/>
            <a:ext cx="4718304" cy="0"/>
          </a:xfrm>
          <a:prstGeom prst="line">
            <a:avLst/>
          </a:prstGeom>
          <a:noFill/>
          <a:ln w="19050">
            <a:solidFill>
              <a:srgbClr val="2C5A4B"/>
            </a:solidFill>
            <a:prstDash val="solid"/>
          </a:ln>
        </p:spPr>
      </p:sp>
      <p:sp>
        <p:nvSpPr>
          <p:cNvPr id="19" name="Text 17"/>
          <p:cNvSpPr txBox="1"/>
          <p:nvPr/>
        </p:nvSpPr>
        <p:spPr>
          <a:xfrm>
            <a:off x="6903720" y="3566160"/>
            <a:ext cx="4718304" cy="1554480"/>
          </a:xfrm>
          <a:prstGeom prst="rect">
            <a:avLst/>
          </a:prstGeom>
          <a:noFill/>
          <a:ln/>
        </p:spPr>
        <p:txBody>
          <a:bodyPr wrap="square" lIns="0" tIns="0" rIns="0" bIns="0" rtlCol="0" anchor="ctr"/>
          <a:lstStyle/>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Integrates — never replaces SRISHTI, DRISHTI or Bhuvan</a:t>
            </a:r>
            <a:endParaRPr lang="en-US" sz="1250" dirty="0"/>
          </a:p>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Implements two written mandates from WDC-PMKSY 2.0</a:t>
            </a:r>
            <a:endParaRPr lang="en-US" sz="1250" dirty="0"/>
          </a:p>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Adopts the government’s own IDs, roles and statuses</a:t>
            </a:r>
            <a:endParaRPr lang="en-US" sz="1250" dirty="0"/>
          </a:p>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Caps itself below causal claims — enforced in code</a:t>
            </a:r>
            <a:endParaRPr lang="en-US" sz="1250" dirty="0"/>
          </a:p>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Runs on free, verified data with zero licence cost</a:t>
            </a:r>
            <a:endParaRPr lang="en-US" sz="1250" dirty="0"/>
          </a:p>
        </p:txBody>
      </p:sp>
      <p:sp>
        <p:nvSpPr>
          <p:cNvPr id="20" name="Shape 18"/>
          <p:cNvSpPr/>
          <p:nvPr/>
        </p:nvSpPr>
        <p:spPr>
          <a:xfrm>
            <a:off x="566928" y="5449824"/>
            <a:ext cx="11057839" cy="859536"/>
          </a:xfrm>
          <a:prstGeom prst="roundRect">
            <a:avLst>
              <a:gd name="adj" fmla="val 8511"/>
            </a:avLst>
          </a:prstGeom>
          <a:solidFill>
            <a:srgbClr val="2C5A4B"/>
          </a:solidFill>
          <a:ln w="12700">
            <a:solidFill>
              <a:srgbClr val="2C5A4B"/>
            </a:solidFill>
            <a:prstDash val="solid"/>
          </a:ln>
        </p:spPr>
      </p:sp>
      <p:sp>
        <p:nvSpPr>
          <p:cNvPr id="21" name="Text 19"/>
          <p:cNvSpPr txBox="1"/>
          <p:nvPr/>
        </p:nvSpPr>
        <p:spPr>
          <a:xfrm>
            <a:off x="566928" y="5541264"/>
            <a:ext cx="11057839" cy="347472"/>
          </a:xfrm>
          <a:prstGeom prst="rect">
            <a:avLst/>
          </a:prstGeom>
          <a:noFill/>
          <a:ln/>
        </p:spPr>
        <p:txBody>
          <a:bodyPr wrap="square" lIns="0" tIns="0" rIns="0" bIns="0" rtlCol="0" anchor="ctr"/>
          <a:lstStyle/>
          <a:p>
            <a:pPr marL="0" indent="0" algn="ctr">
              <a:buNone/>
            </a:pPr>
            <a:r>
              <a:rPr lang="en-US" sz="1900" b="1" kern="0" spc="250" dirty="0">
                <a:solidFill>
                  <a:srgbClr val="FFFFFF"/>
                </a:solidFill>
                <a:latin typeface="Cambria" pitchFamily="34" charset="0"/>
                <a:ea typeface="Cambria" pitchFamily="34" charset="-122"/>
                <a:cs typeface="Cambria" pitchFamily="34" charset="-120"/>
              </a:rPr>
              <a:t>प्रमाण   ·   PRAMAAN   ·   proof</a:t>
            </a:r>
            <a:endParaRPr lang="en-US" sz="1900" dirty="0"/>
          </a:p>
        </p:txBody>
      </p:sp>
      <p:sp>
        <p:nvSpPr>
          <p:cNvPr id="22" name="Text 20"/>
          <p:cNvSpPr txBox="1"/>
          <p:nvPr/>
        </p:nvSpPr>
        <p:spPr>
          <a:xfrm>
            <a:off x="566928" y="5907024"/>
            <a:ext cx="11057839" cy="310896"/>
          </a:xfrm>
          <a:prstGeom prst="rect">
            <a:avLst/>
          </a:prstGeom>
          <a:noFill/>
          <a:ln/>
        </p:spPr>
        <p:txBody>
          <a:bodyPr wrap="square" lIns="0" tIns="0" rIns="0" bIns="0" rtlCol="0" anchor="ctr"/>
          <a:lstStyle/>
          <a:p>
            <a:pPr marL="0" indent="0" algn="ctr">
              <a:buNone/>
            </a:pPr>
            <a:r>
              <a:rPr lang="en-US" sz="1300" dirty="0">
                <a:solidFill>
                  <a:srgbClr val="D7E3DB"/>
                </a:solidFill>
                <a:latin typeface="Calibri" pitchFamily="34" charset="0"/>
                <a:ea typeface="Calibri" pitchFamily="34" charset="-122"/>
                <a:cs typeface="Calibri" pitchFamily="34" charset="-120"/>
              </a:rPr>
              <a:t>1,24,830 structures. Free satellite data. The officer still decides.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2664</Words>
  <Application>Microsoft Macintosh PowerPoint</Application>
  <PresentationFormat>Widescreen</PresentationFormat>
  <Paragraphs>290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Smart India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PRAMAAN — SIH 2026 PS 26015</dc:title>
  <dc:subject>PptxGenJS Presentation</dc:subject>
  <dc:creator>Team PRAMAAN</dc:creator>
  <cp:lastModifiedBy>Koushik G</cp:lastModifiedBy>
  <cp:revision>2</cp:revision>
  <dcterms:created xsi:type="dcterms:W3CDTF">2026-08-27T17:05:15Z</dcterms:created>
  <dcterms:modified xsi:type="dcterms:W3CDTF">2026-08-27T17:24:28Z</dcterms:modified>
</cp:coreProperties>
</file>