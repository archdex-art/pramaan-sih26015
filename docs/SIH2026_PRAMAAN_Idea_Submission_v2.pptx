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66AA96-48D4-4E35-B492-0BAB1B92E594}" v="11" dt="2026-08-18T11:03:58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ODAVATH VISHNU VARDHAN" userId="ca35075604a2e0db" providerId="LiveId" clId="{352B65A4-E3D4-44DA-830C-567D8C9DC900}"/>
    <pc:docChg chg="undo custSel modSld">
      <pc:chgData name="MOODAVATH VISHNU VARDHAN" userId="ca35075604a2e0db" providerId="LiveId" clId="{352B65A4-E3D4-44DA-830C-567D8C9DC900}" dt="2026-08-18T11:03:59.101" v="49" actId="22"/>
      <pc:docMkLst>
        <pc:docMk/>
      </pc:docMkLst>
      <pc:sldChg chg="addSp delSp mod">
        <pc:chgData name="MOODAVATH VISHNU VARDHAN" userId="ca35075604a2e0db" providerId="LiveId" clId="{352B65A4-E3D4-44DA-830C-567D8C9DC900}" dt="2026-08-18T11:03:38.144" v="39" actId="22"/>
        <pc:sldMkLst>
          <pc:docMk/>
          <pc:sldMk cId="0" sldId="281"/>
        </pc:sldMkLst>
        <pc:picChg chg="add del">
          <ac:chgData name="MOODAVATH VISHNU VARDHAN" userId="ca35075604a2e0db" providerId="LiveId" clId="{352B65A4-E3D4-44DA-830C-567D8C9DC900}" dt="2026-08-18T11:03:36.257" v="37" actId="22"/>
          <ac:picMkLst>
            <pc:docMk/>
            <pc:sldMk cId="0" sldId="281"/>
            <ac:picMk id="3" creationId="{08294391-9C93-D5B8-AE6F-92604514B804}"/>
          </ac:picMkLst>
        </pc:picChg>
        <pc:picChg chg="add">
          <ac:chgData name="MOODAVATH VISHNU VARDHAN" userId="ca35075604a2e0db" providerId="LiveId" clId="{352B65A4-E3D4-44DA-830C-567D8C9DC900}" dt="2026-08-18T11:03:38.144" v="39" actId="22"/>
          <ac:picMkLst>
            <pc:docMk/>
            <pc:sldMk cId="0" sldId="281"/>
            <ac:picMk id="5" creationId="{4CD93F4F-823A-8D61-D1B5-83DDE7E404D3}"/>
          </ac:picMkLst>
        </pc:picChg>
        <pc:picChg chg="del">
          <ac:chgData name="MOODAVATH VISHNU VARDHAN" userId="ca35075604a2e0db" providerId="LiveId" clId="{352B65A4-E3D4-44DA-830C-567D8C9DC900}" dt="2026-08-18T11:03:37.494" v="38" actId="478"/>
          <ac:picMkLst>
            <pc:docMk/>
            <pc:sldMk cId="0" sldId="281"/>
            <ac:picMk id="12" creationId="{00000000-0000-0000-0000-000000000000}"/>
          </ac:picMkLst>
        </pc:picChg>
      </pc:sldChg>
      <pc:sldChg chg="addSp delSp mod">
        <pc:chgData name="MOODAVATH VISHNU VARDHAN" userId="ca35075604a2e0db" providerId="LiveId" clId="{352B65A4-E3D4-44DA-830C-567D8C9DC900}" dt="2026-08-18T11:03:42.897" v="41" actId="22"/>
        <pc:sldMkLst>
          <pc:docMk/>
          <pc:sldMk cId="0" sldId="290"/>
        </pc:sldMkLst>
        <pc:picChg chg="add">
          <ac:chgData name="MOODAVATH VISHNU VARDHAN" userId="ca35075604a2e0db" providerId="LiveId" clId="{352B65A4-E3D4-44DA-830C-567D8C9DC900}" dt="2026-08-18T11:03:42.897" v="41" actId="22"/>
          <ac:picMkLst>
            <pc:docMk/>
            <pc:sldMk cId="0" sldId="290"/>
            <ac:picMk id="3" creationId="{79639DED-3C6F-44EC-5BA1-914639120411}"/>
          </ac:picMkLst>
        </pc:picChg>
        <pc:picChg chg="del">
          <ac:chgData name="MOODAVATH VISHNU VARDHAN" userId="ca35075604a2e0db" providerId="LiveId" clId="{352B65A4-E3D4-44DA-830C-567D8C9DC900}" dt="2026-08-18T11:03:41.185" v="40" actId="478"/>
          <ac:picMkLst>
            <pc:docMk/>
            <pc:sldMk cId="0" sldId="290"/>
            <ac:picMk id="9" creationId="{00000000-0000-0000-0000-000000000000}"/>
          </ac:picMkLst>
        </pc:picChg>
      </pc:sldChg>
      <pc:sldChg chg="addSp delSp modSp mod">
        <pc:chgData name="MOODAVATH VISHNU VARDHAN" userId="ca35075604a2e0db" providerId="LiveId" clId="{352B65A4-E3D4-44DA-830C-567D8C9DC900}" dt="2026-08-18T11:03:25.929" v="35" actId="1076"/>
        <pc:sldMkLst>
          <pc:docMk/>
          <pc:sldMk cId="0" sldId="291"/>
        </pc:sldMkLst>
        <pc:spChg chg="mod">
          <ac:chgData name="MOODAVATH VISHNU VARDHAN" userId="ca35075604a2e0db" providerId="LiveId" clId="{352B65A4-E3D4-44DA-830C-567D8C9DC900}" dt="2026-08-18T11:01:19.966" v="9" actId="20577"/>
          <ac:spMkLst>
            <pc:docMk/>
            <pc:sldMk cId="0" sldId="291"/>
            <ac:spMk id="8" creationId="{00000000-0000-0000-0000-000000000000}"/>
          </ac:spMkLst>
        </pc:spChg>
        <pc:picChg chg="add del mod">
          <ac:chgData name="MOODAVATH VISHNU VARDHAN" userId="ca35075604a2e0db" providerId="LiveId" clId="{352B65A4-E3D4-44DA-830C-567D8C9DC900}" dt="2026-08-18T11:01:17.765" v="7" actId="22"/>
          <ac:picMkLst>
            <pc:docMk/>
            <pc:sldMk cId="0" sldId="291"/>
            <ac:picMk id="3" creationId="{DEF658DA-AE8B-44F0-F515-53CFB4165E1D}"/>
          </ac:picMkLst>
        </pc:picChg>
        <pc:picChg chg="add del">
          <ac:chgData name="MOODAVATH VISHNU VARDHAN" userId="ca35075604a2e0db" providerId="LiveId" clId="{352B65A4-E3D4-44DA-830C-567D8C9DC900}" dt="2026-08-18T11:01:25.007" v="11" actId="22"/>
          <ac:picMkLst>
            <pc:docMk/>
            <pc:sldMk cId="0" sldId="291"/>
            <ac:picMk id="7" creationId="{736812E8-AEC1-5BDC-7089-0D378EDF72EB}"/>
          </ac:picMkLst>
        </pc:picChg>
        <pc:picChg chg="add mod modCrop">
          <ac:chgData name="MOODAVATH VISHNU VARDHAN" userId="ca35075604a2e0db" providerId="LiveId" clId="{352B65A4-E3D4-44DA-830C-567D8C9DC900}" dt="2026-08-18T11:03:25.929" v="35" actId="1076"/>
          <ac:picMkLst>
            <pc:docMk/>
            <pc:sldMk cId="0" sldId="291"/>
            <ac:picMk id="9" creationId="{D2002BB7-3D67-663C-B4D9-5375074A7437}"/>
          </ac:picMkLst>
        </pc:picChg>
        <pc:picChg chg="del">
          <ac:chgData name="MOODAVATH VISHNU VARDHAN" userId="ca35075604a2e0db" providerId="LiveId" clId="{352B65A4-E3D4-44DA-830C-567D8C9DC900}" dt="2026-08-18T11:03:23.994" v="34" actId="478"/>
          <ac:picMkLst>
            <pc:docMk/>
            <pc:sldMk cId="0" sldId="291"/>
            <ac:picMk id="1026" creationId="{00000000-0000-0000-0000-000000000000}"/>
          </ac:picMkLst>
        </pc:picChg>
      </pc:sldChg>
      <pc:sldChg chg="addSp delSp mod">
        <pc:chgData name="MOODAVATH VISHNU VARDHAN" userId="ca35075604a2e0db" providerId="LiveId" clId="{352B65A4-E3D4-44DA-830C-567D8C9DC900}" dt="2026-08-18T11:03:47.600" v="43" actId="22"/>
        <pc:sldMkLst>
          <pc:docMk/>
          <pc:sldMk cId="3753387913" sldId="293"/>
        </pc:sldMkLst>
        <pc:picChg chg="add">
          <ac:chgData name="MOODAVATH VISHNU VARDHAN" userId="ca35075604a2e0db" providerId="LiveId" clId="{352B65A4-E3D4-44DA-830C-567D8C9DC900}" dt="2026-08-18T11:03:47.600" v="43" actId="22"/>
          <ac:picMkLst>
            <pc:docMk/>
            <pc:sldMk cId="3753387913" sldId="293"/>
            <ac:picMk id="3" creationId="{C7D349F8-7D57-0786-C64C-4BB88F9DB6F7}"/>
          </ac:picMkLst>
        </pc:picChg>
        <pc:picChg chg="del">
          <ac:chgData name="MOODAVATH VISHNU VARDHAN" userId="ca35075604a2e0db" providerId="LiveId" clId="{352B65A4-E3D4-44DA-830C-567D8C9DC900}" dt="2026-08-18T11:03:47.062" v="42" actId="478"/>
          <ac:picMkLst>
            <pc:docMk/>
            <pc:sldMk cId="3753387913" sldId="293"/>
            <ac:picMk id="9" creationId="{00000000-0000-0000-0000-000000000000}"/>
          </ac:picMkLst>
        </pc:picChg>
      </pc:sldChg>
      <pc:sldChg chg="addSp delSp mod">
        <pc:chgData name="MOODAVATH VISHNU VARDHAN" userId="ca35075604a2e0db" providerId="LiveId" clId="{352B65A4-E3D4-44DA-830C-567D8C9DC900}" dt="2026-08-18T11:03:50.938" v="45" actId="22"/>
        <pc:sldMkLst>
          <pc:docMk/>
          <pc:sldMk cId="2997144140" sldId="294"/>
        </pc:sldMkLst>
        <pc:picChg chg="add">
          <ac:chgData name="MOODAVATH VISHNU VARDHAN" userId="ca35075604a2e0db" providerId="LiveId" clId="{352B65A4-E3D4-44DA-830C-567D8C9DC900}" dt="2026-08-18T11:03:50.938" v="45" actId="22"/>
          <ac:picMkLst>
            <pc:docMk/>
            <pc:sldMk cId="2997144140" sldId="294"/>
            <ac:picMk id="3" creationId="{DB39D37A-D964-AA7B-ED30-69ECE199A122}"/>
          </ac:picMkLst>
        </pc:picChg>
        <pc:picChg chg="del">
          <ac:chgData name="MOODAVATH VISHNU VARDHAN" userId="ca35075604a2e0db" providerId="LiveId" clId="{352B65A4-E3D4-44DA-830C-567D8C9DC900}" dt="2026-08-18T11:03:50.464" v="44" actId="478"/>
          <ac:picMkLst>
            <pc:docMk/>
            <pc:sldMk cId="2997144140" sldId="294"/>
            <ac:picMk id="9" creationId="{00000000-0000-0000-0000-000000000000}"/>
          </ac:picMkLst>
        </pc:picChg>
      </pc:sldChg>
      <pc:sldChg chg="addSp delSp mod">
        <pc:chgData name="MOODAVATH VISHNU VARDHAN" userId="ca35075604a2e0db" providerId="LiveId" clId="{352B65A4-E3D4-44DA-830C-567D8C9DC900}" dt="2026-08-18T11:03:55.113" v="47" actId="22"/>
        <pc:sldMkLst>
          <pc:docMk/>
          <pc:sldMk cId="3916788613" sldId="296"/>
        </pc:sldMkLst>
        <pc:picChg chg="add">
          <ac:chgData name="MOODAVATH VISHNU VARDHAN" userId="ca35075604a2e0db" providerId="LiveId" clId="{352B65A4-E3D4-44DA-830C-567D8C9DC900}" dt="2026-08-18T11:03:55.113" v="47" actId="22"/>
          <ac:picMkLst>
            <pc:docMk/>
            <pc:sldMk cId="3916788613" sldId="296"/>
            <ac:picMk id="3" creationId="{DFB27F9E-988F-6987-EF9A-D6711B4CB86A}"/>
          </ac:picMkLst>
        </pc:picChg>
        <pc:picChg chg="del">
          <ac:chgData name="MOODAVATH VISHNU VARDHAN" userId="ca35075604a2e0db" providerId="LiveId" clId="{352B65A4-E3D4-44DA-830C-567D8C9DC900}" dt="2026-08-18T11:03:54.450" v="46" actId="478"/>
          <ac:picMkLst>
            <pc:docMk/>
            <pc:sldMk cId="3916788613" sldId="296"/>
            <ac:picMk id="11" creationId="{00000000-0000-0000-0000-000000000000}"/>
          </ac:picMkLst>
        </pc:picChg>
      </pc:sldChg>
      <pc:sldChg chg="addSp delSp mod">
        <pc:chgData name="MOODAVATH VISHNU VARDHAN" userId="ca35075604a2e0db" providerId="LiveId" clId="{352B65A4-E3D4-44DA-830C-567D8C9DC900}" dt="2026-08-18T11:03:59.101" v="49" actId="22"/>
        <pc:sldMkLst>
          <pc:docMk/>
          <pc:sldMk cId="1588084416" sldId="297"/>
        </pc:sldMkLst>
        <pc:picChg chg="add">
          <ac:chgData name="MOODAVATH VISHNU VARDHAN" userId="ca35075604a2e0db" providerId="LiveId" clId="{352B65A4-E3D4-44DA-830C-567D8C9DC900}" dt="2026-08-18T11:03:59.101" v="49" actId="22"/>
          <ac:picMkLst>
            <pc:docMk/>
            <pc:sldMk cId="1588084416" sldId="297"/>
            <ac:picMk id="8" creationId="{46C45999-9CAA-5FD9-2841-7B7A07C937E6}"/>
          </ac:picMkLst>
        </pc:picChg>
        <pc:picChg chg="del">
          <ac:chgData name="MOODAVATH VISHNU VARDHAN" userId="ca35075604a2e0db" providerId="LiveId" clId="{352B65A4-E3D4-44DA-830C-567D8C9DC900}" dt="2026-08-18T11:03:58.657" v="48" actId="478"/>
          <ac:picMkLst>
            <pc:docMk/>
            <pc:sldMk cId="1588084416" sldId="297"/>
            <ac:picMk id="11" creationId="{00000000-0000-0000-0000-00000000000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anose="020B0604020202020204" pitchFamily="34" charset="0"/>
                <a:cs typeface="Arial" panose="020B0604020202020204" pitchFamily="34" charset="0"/>
              </a:rPr>
              <a:t>Problem Statement ID – 26015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anose="020B0604020202020204" pitchFamily="34" charset="0"/>
                <a:cs typeface="Arial" panose="020B0604020202020204" pitchFamily="34" charset="0"/>
              </a:rPr>
              <a:t>Problem Statement Title – Application of Geospatial Techniques for visualization and analysis to interpret Geo-Coded Images to enhance watershed Development Outcomes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anose="020B0604020202020204" pitchFamily="34" charset="0"/>
                <a:cs typeface="Arial" panose="020B0604020202020204" pitchFamily="34" charset="0"/>
              </a:rPr>
              <a:t>Theme – Agriculture, FoodTech &amp; Rural Development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anose="020B0604020202020204" pitchFamily="34" charset="0"/>
                <a:cs typeface="Arial" panose="020B0604020202020204" pitchFamily="34" charset="0"/>
              </a:rPr>
              <a:t>Team ID – &lt;your team ID&gt;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Calibri" panose="020B0604020202020204" pitchFamily="34" charset="0"/>
                <a:cs typeface="Arial" panose="020B0604020202020204" pitchFamily="34" charset="0"/>
              </a:rPr>
              <a:t>Team Name (Registered on portal) – &lt;your team name&gt;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002BB7-3D67-663C-B4D9-5375074A74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26" t="7551" r="79" b="-7551"/>
          <a:stretch>
            <a:fillRect/>
          </a:stretch>
        </p:blipFill>
        <p:spPr>
          <a:xfrm>
            <a:off x="9867600" y="113346"/>
            <a:ext cx="2210400" cy="114939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29184" y="5760720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700" b="1" i="0">
                <a:solidFill>
                  <a:srgbClr val="0070C0"/>
                </a:solidFill>
                <a:latin typeface="Calibri"/>
              </a:rPr>
              <a:t>PRAMAAN  •  प्रमाण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666666"/>
                </a:solidFill>
                <a:latin typeface="Calibri"/>
              </a:rPr>
              <a:t>Turning geo-tagged watershed photographs into verifiable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Team Name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D93F4F-823A-8D61-D1B5-83DDE7E404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26" t="7551" r="79" b="-7551"/>
          <a:stretch>
            <a:fillRect/>
          </a:stretch>
        </p:blipFill>
        <p:spPr>
          <a:xfrm>
            <a:off x="9867600" y="113346"/>
            <a:ext cx="2210400" cy="1149399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612648" y="11887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612648" y="157276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PRAMAAN — an evidence-reconciliation layer over DoLR’s existing SRISHTI / DRISHTI geotag pipeline. Every field photograph becomes a claim the satellite record can test.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12648" y="1938528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2587752" y="1938528"/>
            <a:ext cx="2377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2825496" y="1938528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800600" y="1938528"/>
            <a:ext cx="2377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5038344" y="1938528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7013448" y="1938528"/>
            <a:ext cx="2377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7251192" y="1938528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OFFICER DECIDES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9226296" y="1938528"/>
            <a:ext cx="2377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9464040" y="1938528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SIGNED RECORD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612648" y="232257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PHOTO  0.12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2816351" y="232257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1E6B52"/>
                </a:solidFill>
                <a:latin typeface="Calibri"/>
              </a:rPr>
              <a:t>TERRAIN  0.25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5020055" y="232257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0070C0"/>
                </a:solidFill>
                <a:latin typeface="Calibri"/>
              </a:rPr>
              <a:t>SATELLITE 30 m  0.20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7223759" y="232257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0070C0"/>
                </a:solidFill>
                <a:latin typeface="Calibri"/>
              </a:rPr>
              <a:t>TEMPORAL  0.20  ·  CONTROL  0.15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9427463" y="232257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RAINFALL CONTEXT  0.08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612648" y="2724912"/>
            <a:ext cx="3438144" cy="2944368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9" name="TextBox 15378"/>
          <p:cNvSpPr txBox="1"/>
          <p:nvPr/>
        </p:nvSpPr>
        <p:spPr>
          <a:xfrm>
            <a:off x="758952" y="2834640"/>
            <a:ext cx="314553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Detailed explanation of the proposed solution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758952" y="3438144"/>
            <a:ext cx="3145536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Each DRISHTI geotag — lat/lon, GPS accuracy, orientation, timestamp, activity, status — becomes a structured, testable claim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Reconciled against six evidence families — terrain, satellite, temporal, matched controls, rainfall context and the photograph. Five are independent of the claim; the photograph is not, which is why it is weighted lowest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Output: a verdict on a published L0–L4 evidence ladder, with calibrated confidence and a mandatory dissent panel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Officer accepts / edits / rejects; signed into an append-only, hash-chained ledger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Deliverable: an Evidence Pack PDF carrying every scene ID, model version and weight used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4334255" y="2724912"/>
            <a:ext cx="3438144" cy="2944368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2" name="TextBox 15381"/>
          <p:cNvSpPr txBox="1"/>
          <p:nvPr/>
        </p:nvSpPr>
        <p:spPr>
          <a:xfrm>
            <a:off x="4480559" y="2834640"/>
            <a:ext cx="314553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4480559" y="3438144"/>
            <a:ext cx="3145536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Today a geotag is moderated by eye — accept or reject. That verifies a photograph, not an outcome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1,24,830 water-harvesting structures under WDC-PMKSY 2.0 cannot be eyeballed at scale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Implements the WDC-PMKSY 2.0 written mandate: NDVI/NDWI change detection, and cross-verification of satellite images with ground interventions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Converts ~1,200 works per district into ~40 that need a human decision, each with a documented reason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Adds one step to the existing workflow — replaces no government system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8055863" y="2724912"/>
            <a:ext cx="3438144" cy="2944368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5" name="TextBox 15384"/>
          <p:cNvSpPr txBox="1"/>
          <p:nvPr/>
        </p:nvSpPr>
        <p:spPr>
          <a:xfrm>
            <a:off x="8202167" y="2834640"/>
            <a:ext cx="314553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Innovation and uniqueness of the solution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8202167" y="3438144"/>
            <a:ext cx="3145536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Matched-control differencing per structure — 5–12 similar un-treated sites in the same sub-watershed, so we measure the intervention, not the monsoon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Terrain plausibility screen — a check dam claimed off any drainage line is flagged deterministically, before any AI runs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Detectability gate — the system refuses to judge structures smaller than one 30 m pixel and escalates to a cluster claim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Causal claims are unreachable in code; “requires physical verification” is the strongest language it can emit</a:t>
            </a:r>
          </a:p>
          <a:p>
            <a:pPr marL="146304" indent="-146304">
              <a:lnSpc>
                <a:spcPct val="105000"/>
              </a:lnSpc>
              <a:spcAft>
                <a:spcPts val="5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Every officer correction becomes labelled training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639DED-3C6F-44EC-5BA1-9146391204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26" t="7551" r="79" b="-7551"/>
          <a:stretch>
            <a:fillRect/>
          </a:stretch>
        </p:blipFill>
        <p:spPr>
          <a:xfrm>
            <a:off x="9867600" y="113346"/>
            <a:ext cx="2210400" cy="1149399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1887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Technologies to be used (e.g. programming languages, frameworks, hardware)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627632"/>
            <a:ext cx="4206240" cy="4553712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758952" y="1773936"/>
            <a:ext cx="3913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BACKEND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Python 3.11 · FastAPI · Celery · Redis · Docker Compose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58952" y="2532888"/>
            <a:ext cx="3913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GEOSPATIAL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PostgreSQL + PostGIS · GDAL · rasterio · GeoPandas · Shapely · PyProj · WhiteboxTools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58952" y="3291840"/>
            <a:ext cx="3913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AI / CV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PyTorch · SigLIP-2 zero-shot (no labelled corpus exists) · OpenCV · Prithvi-EO-2.0 30 m foundation model as the research path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58952" y="4050791"/>
            <a:ext cx="3913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FRONTEND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React · TypeScript · MapLibre GL · TiTiler for COG tiles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58952" y="4809744"/>
            <a:ext cx="3913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DATA SOURCES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NASA HLS 30 m (STAC) · Copernicus Sentinel-2 (STAC) · NRSC Bhoonidhi API (JWT + STAC) · Bhuvan OGC WMS · JRC Global Surface Water · CartoDEM · SLUSI watershed atlas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58952" y="5568696"/>
            <a:ext cx="3913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HARDWARE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One 8-core VM. No GPU required on the core path. ₹0 in data and licence cost.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074920" y="118872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Methodology and process for implementation (Flow Charts / Images / working prototype)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074920" y="1645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080760" y="1645920"/>
            <a:ext cx="1005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181344" y="1645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187183" y="1645920"/>
            <a:ext cx="1005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287768" y="1645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INTERPRET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293608" y="1645920"/>
            <a:ext cx="1005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394192" y="1645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RECONCILE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400032" y="1645920"/>
            <a:ext cx="1005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9500616" y="1645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ADJUDICATE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0506456" y="1645920"/>
            <a:ext cx="1005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C8D4DF"/>
                </a:solidFill>
                <a:latin typeface="Calibri"/>
              </a:rPr>
              <a:t>›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10607040" y="1645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pic>
        <p:nvPicPr>
          <p:cNvPr id="17430" name="Picture 17429" descr="_fig2_d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121408"/>
            <a:ext cx="6583680" cy="3703320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5074920" y="5888736"/>
            <a:ext cx="6583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 i="1">
                <a:solidFill>
                  <a:srgbClr val="666666"/>
                </a:solidFill>
                <a:latin typeface="Calibri"/>
              </a:rPr>
              <a:t>The reconciliation mechanism. Six evidence families weighted into one verdict — five independent of the photograph, which is the claim’s own source and weighted lowest. The detectability gate disables per-structure satellite evidence below one 30 m pixel; the engine is a pure function — same bundle, same verdict.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D349F8-7D57-0786-C64C-4BB88F9DB6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26" t="7551" r="79" b="-7551"/>
          <a:stretch>
            <a:fillRect/>
          </a:stretch>
        </p:blipFill>
        <p:spPr>
          <a:xfrm>
            <a:off x="9867600" y="113346"/>
            <a:ext cx="2210400" cy="1149399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188720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792224"/>
            <a:ext cx="3438144" cy="43891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758952" y="1938528"/>
            <a:ext cx="314553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Every core data source is free, open and programmatic — endpoints verified, not assumed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NRSC Bhoonidhi exposes a documented JWT + STAC API; data coarser than 5 m is open under Indian Space Policy 2023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₹0 in data and licence cost; entire stack is open-source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Runs on a single 8-core VM with no GPU on the core path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Built to NRSC’s published DRISHTI field schema, so production integration is a driver swap, not a rewrite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Complete workflow demonstrable offline from a local cache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334255" y="1188720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Potential challenges and risks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334255" y="1792224"/>
            <a:ext cx="3438144" cy="43891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4480559" y="1938528"/>
            <a:ext cx="314553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Many structures are smaller than one 30 m pixel — farm ponds, gully plugs, individual trenches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Monsoon cloud cover can destroy an entire kharif observation window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EXIF GPS is often stripped by messaging apps; coordinates may be typed manually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Seasonality and rainfall can be mistaken for genuine intervention impact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A false negative could unfairly implicate a beneficiary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No public SRISHTI / DRISHTI API could be found during research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055863" y="1188720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070C0"/>
                </a:solidFill>
                <a:latin typeface="Calibri"/>
              </a:rPr>
              <a:t>Strategies for overcoming these challenges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055863" y="1792224"/>
            <a:ext cx="3438144" cy="43891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8202167" y="1938528"/>
            <a:ext cx="314553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Detectability gate compares footprint to sensor resolution first, then escalates to a cluster claim — never a false negative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Rabi and summer windows carry the analysis; cloud is scored per area of interest, not per scene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Ranked provenance chain (EXIF → sidecar → CSV → manual pin) plus a deterministic terrain plausibility screen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Matched controls in the same sub-watershed, same-season comparison, construction window excluded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Verdicts stay provisional until a named officer signs; wording is locked to “requires physical verification”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Imagery and geotag sources sit behind driver interfaces — one class to swap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9D37A-D964-AA7B-ED30-69ECE199A1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26" t="7551" r="79" b="-7551"/>
          <a:stretch>
            <a:fillRect/>
          </a:stretch>
        </p:blipFill>
        <p:spPr>
          <a:xfrm>
            <a:off x="9867600" y="113346"/>
            <a:ext cx="2210400" cy="1149399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188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792224"/>
            <a:ext cx="5486400" cy="1847088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758952" y="1938528"/>
            <a:ext cx="519379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WCDC Project Manager — ~1,200 works per district reduce to ~40 needing a decision each month, each with a documented reason for the field visit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SLNA monitoring &amp; evaluation — a standing, reproducible evidence pipeline replaces hand-built one-off GIS analyses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DoLR — every aggregate number traces to a signed adjudication, making progress reporting audit-defensible</a:t>
            </a:r>
          </a:p>
          <a:p>
            <a:pPr marL="146304" indent="-146304">
              <a:lnSpc>
                <a:spcPct val="106000"/>
              </a:lnSpc>
              <a:spcAft>
                <a:spcPts val="700"/>
              </a:spcAft>
              <a:buChar char="•"/>
            </a:pPr>
            <a:r>
              <a:rPr sz="950" b="0" i="0">
                <a:solidFill>
                  <a:srgbClr val="333333"/>
                </a:solidFill>
                <a:latin typeface="Calibri"/>
              </a:rPr>
              <a:t>Field WDT — fewer wasted verification journeys; feedback on capture quality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12648" y="389534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Calibri"/>
              </a:rPr>
              <a:t>TARGETING SCARCE VERIFICATION EFFORT — ONE DISTRICT, ONE MONTH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12648" y="4187952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Calibri"/>
              </a:rPr>
              <a:t>Works in one district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542032" y="4206240"/>
            <a:ext cx="2926080" cy="1828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5532120" y="4187952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  <a:latin typeface="Calibri"/>
              </a:rPr>
              <a:t>1,200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12648" y="4608576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Calibri"/>
              </a:rPr>
              <a:t>Assessable at 30 m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542032" y="4626864"/>
            <a:ext cx="2170176" cy="1828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4776216" y="4608576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  <a:latin typeface="Calibri"/>
              </a:rPr>
              <a:t>890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12648" y="5029200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Calibri"/>
              </a:rPr>
              <a:t>Need a human decision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2542032" y="5047488"/>
            <a:ext cx="975360" cy="1828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3581400" y="5029200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  <a:latin typeface="Calibri"/>
              </a:rPr>
              <a:t>400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12648" y="544982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Calibri"/>
              </a:rPr>
              <a:t>Field visits ordered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2542032" y="5468112"/>
            <a:ext cx="146304" cy="1828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2752344" y="544982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  <a:latin typeface="Calibri"/>
              </a:rPr>
              <a:t>60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400800" y="11887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Benefits of the solution (social, economic, environmental, etc.)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400800" y="1792224"/>
            <a:ext cx="5120640" cy="393192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TextBox 17427"/>
          <p:cNvSpPr txBox="1"/>
          <p:nvPr/>
        </p:nvSpPr>
        <p:spPr>
          <a:xfrm>
            <a:off x="6547104" y="1920240"/>
            <a:ext cx="48280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1E6B52"/>
                </a:solidFill>
                <a:latin typeface="Calibri"/>
              </a:rPr>
              <a:t>ECONOMIC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547104" y="2157984"/>
            <a:ext cx="48280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Targets a scarce verification budget inside a ₹8,134 crore programme covering 49.5 lakh hectares</a:t>
            </a:r>
          </a:p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₹0 data and licence cost — marginal cost per extra structure is CPU seconds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547104" y="2889504"/>
            <a:ext cx="48280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  <a:latin typeface="Calibri"/>
              </a:rPr>
              <a:t>SOCIAL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547104" y="3127248"/>
            <a:ext cx="48280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Accountability without accusation — the system never says fraud or false</a:t>
            </a:r>
          </a:p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Strongest wording it can emit is “requires physical verification”; a named officer makes the finding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547104" y="3858768"/>
            <a:ext cx="48280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1E6B52"/>
                </a:solidFill>
                <a:latin typeface="Calibri"/>
              </a:rPr>
              <a:t>ENVIRONMENTAL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547104" y="4096512"/>
            <a:ext cx="48280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Earlier detection of non-performing soil and water conservation works</a:t>
            </a:r>
          </a:p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Faster remedial action on degraded land, water retention and vegetation cover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547104" y="4828032"/>
            <a:ext cx="48280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B06612"/>
                </a:solidFill>
                <a:latin typeface="Calibri"/>
              </a:rPr>
              <a:t>INSTITUTIONAL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547104" y="5065776"/>
            <a:ext cx="48280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An expert-labelled dataset of Indian watershed field evidence grows from routine use</a:t>
            </a:r>
          </a:p>
          <a:p>
            <a:pPr marL="146304" indent="-146304">
              <a:lnSpc>
                <a:spcPct val="105000"/>
              </a:lnSpc>
              <a:spcAft>
                <a:spcPts val="4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Owned by the department, at no additional cost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400800" y="5815584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 i="1">
                <a:solidFill>
                  <a:srgbClr val="666666"/>
                </a:solidFill>
                <a:latin typeface="Calibri"/>
              </a:rPr>
              <a:t>Watershed development is already proven: mean benefit–cost ≈ 2, IRR 27.4%, cropping intensity +35.5% (ICRISAT, 636 Indian micro-watersheds). The gap is knowing which structures work.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900"/>
              <a:t>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27F9E-988F-6987-EF9A-D6711B4CB8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26" t="7551" r="79" b="-7551"/>
          <a:stretch>
            <a:fillRect/>
          </a:stretch>
        </p:blipFill>
        <p:spPr>
          <a:xfrm>
            <a:off x="9867600" y="113346"/>
            <a:ext cx="2210400" cy="1149399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1887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0070C0"/>
                </a:solidFill>
                <a:latin typeface="Calibri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755648"/>
            <a:ext cx="5349240" cy="4425696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777240" y="1901952"/>
            <a:ext cx="50200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GOVERNMENT OF INDIA — PROGRAMME &amp; PLATFORM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77240" y="2231136"/>
            <a:ext cx="502005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WDC-PMKSY 2.0 portal and national dashboard — wdcpmksy.dolr.gov.in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Guidelines for New Generation Watershed Development Projects (WDC-PMKSY 2.0), DoLR — mandates NDVI/NDWI change detection and cross-verification of satellite images with ground interventions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National Technical Guidelines for Improved Watershed Management, NRAA, Aug 2025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NRSC SRISHTI–DRISHTI User Manual and DRISHTI v2.3 Manual — bhuvan-app1.nrsc.gov.in/iwmp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Bhuvan Watershed Development Component 2.0 — bhuvan-app1.nrsc.gov.in/wdc2.0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MoRD press release, DoLR–NRSC MoU, 18 Oct 2023 — SRISHTI 2.0 and DRISHTI 2.0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PIB: one crore MGNREGA assets geotagged (PRID 1488368)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27064" y="1755648"/>
            <a:ext cx="5349240" cy="4425696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9525">
            <a:solidFill>
              <a:srgbClr val="C8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6391655" y="1901952"/>
            <a:ext cx="50200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E6B52"/>
                </a:solidFill>
                <a:latin typeface="Calibri"/>
              </a:rPr>
              <a:t>DATA SOURCES &amp; SCIENTIFIC LITERATURE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391655" y="2231136"/>
            <a:ext cx="502005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Bhoonidhi API Specification, NRSC — bhoonidhi.nrsc.gov.in/bhoonidhi-api (JWT + STAC)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NASA Harmonized Landsat Sentinel-2 (HLS) 30 m v2.0 — LP DAAC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Copernicus Data Space Ecosystem STAC catalogue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JRC Global Surface Water v1.4 (Pekel et al.) — 30 m water history, 1984–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SLUSI Digital Watershed Atlas of India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Prithvi-EO-2.0: A Versatile Multi-Temporal Foundation Model for Earth Observation — arXiv:2412.02732 (pretrained on 4.2 M HLS samples at 30 m)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Assessing impacts of watershed interventions using ground data and remote sensing, Ethiopia — Springer, doi 10.1007/s13762-021-03192-7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Impact of Watershed Program and Conditions for Success: A Meta-Analysis — ICRISAT, 636 micro-watersheds</a:t>
            </a:r>
          </a:p>
          <a:p>
            <a:pPr marL="146304" indent="-146304">
              <a:lnSpc>
                <a:spcPct val="105000"/>
              </a:lnSpc>
              <a:spcAft>
                <a:spcPts val="600"/>
              </a:spcAft>
              <a:buChar char="•"/>
            </a:pPr>
            <a:r>
              <a:rPr sz="900" b="0" i="0">
                <a:solidFill>
                  <a:srgbClr val="333333"/>
                </a:solidFill>
                <a:latin typeface="Calibri"/>
              </a:rPr>
              <a:t>Small water bodies mapped from Sentinel-2 MSI — Int. J. Remote Sensing 41(20)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7497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PRAMAAN — SIH 2026 Idea Submission · PS 26015</dc:title>
  <dc:subject/>
  <dc:creator>PRAMAAN</dc:creator>
  <cp:keywords/>
  <dc:description/>
  <cp:lastModifiedBy>MOODAVATH VISHNU VARDHAN</cp:lastModifiedBy>
  <cp:revision>147</cp:revision>
  <dcterms:created xsi:type="dcterms:W3CDTF">2013-12-12T18:46:50Z</dcterms:created>
  <dcterms:modified xsi:type="dcterms:W3CDTF">2026-08-18T11:04:08Z</dcterms:modified>
  <cp:category/>
</cp:coreProperties>
</file>