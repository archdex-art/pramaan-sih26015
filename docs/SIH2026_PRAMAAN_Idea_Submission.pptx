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6AA96-48D4-4E35-B492-0BAB1B92E594}" v="11" dt="2026-08-18T11:03:58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DAVATH VISHNU VARDHAN" userId="ca35075604a2e0db" providerId="LiveId" clId="{352B65A4-E3D4-44DA-830C-567D8C9DC900}"/>
    <pc:docChg chg="undo custSel modSld">
      <pc:chgData name="MOODAVATH VISHNU VARDHAN" userId="ca35075604a2e0db" providerId="LiveId" clId="{352B65A4-E3D4-44DA-830C-567D8C9DC900}" dt="2026-08-18T11:03:59.101" v="49" actId="22"/>
      <pc:docMkLst>
        <pc:docMk/>
      </pc:docMkLst>
      <pc:sldChg chg="addSp delSp mod">
        <pc:chgData name="MOODAVATH VISHNU VARDHAN" userId="ca35075604a2e0db" providerId="LiveId" clId="{352B65A4-E3D4-44DA-830C-567D8C9DC900}" dt="2026-08-18T11:03:38.144" v="39" actId="22"/>
        <pc:sldMkLst>
          <pc:docMk/>
          <pc:sldMk cId="0" sldId="281"/>
        </pc:sldMkLst>
        <pc:picChg chg="add del">
          <ac:chgData name="MOODAVATH VISHNU VARDHAN" userId="ca35075604a2e0db" providerId="LiveId" clId="{352B65A4-E3D4-44DA-830C-567D8C9DC900}" dt="2026-08-18T11:03:36.257" v="37" actId="22"/>
          <ac:picMkLst>
            <pc:docMk/>
            <pc:sldMk cId="0" sldId="281"/>
            <ac:picMk id="3" creationId="{08294391-9C93-D5B8-AE6F-92604514B804}"/>
          </ac:picMkLst>
        </pc:picChg>
        <pc:picChg chg="add">
          <ac:chgData name="MOODAVATH VISHNU VARDHAN" userId="ca35075604a2e0db" providerId="LiveId" clId="{352B65A4-E3D4-44DA-830C-567D8C9DC900}" dt="2026-08-18T11:03:38.144" v="39" actId="22"/>
          <ac:picMkLst>
            <pc:docMk/>
            <pc:sldMk cId="0" sldId="281"/>
            <ac:picMk id="5" creationId="{4CD93F4F-823A-8D61-D1B5-83DDE7E404D3}"/>
          </ac:picMkLst>
        </pc:picChg>
        <pc:picChg chg="del">
          <ac:chgData name="MOODAVATH VISHNU VARDHAN" userId="ca35075604a2e0db" providerId="LiveId" clId="{352B65A4-E3D4-44DA-830C-567D8C9DC900}" dt="2026-08-18T11:03:37.494" v="38" actId="478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42.897" v="41" actId="22"/>
        <pc:sldMkLst>
          <pc:docMk/>
          <pc:sldMk cId="0" sldId="290"/>
        </pc:sldMkLst>
        <pc:picChg chg="add">
          <ac:chgData name="MOODAVATH VISHNU VARDHAN" userId="ca35075604a2e0db" providerId="LiveId" clId="{352B65A4-E3D4-44DA-830C-567D8C9DC900}" dt="2026-08-18T11:03:42.897" v="41" actId="22"/>
          <ac:picMkLst>
            <pc:docMk/>
            <pc:sldMk cId="0" sldId="290"/>
            <ac:picMk id="3" creationId="{79639DED-3C6F-44EC-5BA1-914639120411}"/>
          </ac:picMkLst>
        </pc:picChg>
        <pc:picChg chg="del">
          <ac:chgData name="MOODAVATH VISHNU VARDHAN" userId="ca35075604a2e0db" providerId="LiveId" clId="{352B65A4-E3D4-44DA-830C-567D8C9DC900}" dt="2026-08-18T11:03:41.185" v="40" actId="478"/>
          <ac:picMkLst>
            <pc:docMk/>
            <pc:sldMk cId="0" sldId="290"/>
            <ac:picMk id="9" creationId="{00000000-0000-0000-0000-000000000000}"/>
          </ac:picMkLst>
        </pc:picChg>
      </pc:sldChg>
      <pc:sldChg chg="addSp delSp modSp mod">
        <pc:chgData name="MOODAVATH VISHNU VARDHAN" userId="ca35075604a2e0db" providerId="LiveId" clId="{352B65A4-E3D4-44DA-830C-567D8C9DC900}" dt="2026-08-18T11:03:25.929" v="35" actId="1076"/>
        <pc:sldMkLst>
          <pc:docMk/>
          <pc:sldMk cId="0" sldId="291"/>
        </pc:sldMkLst>
        <pc:spChg chg="mod">
          <ac:chgData name="MOODAVATH VISHNU VARDHAN" userId="ca35075604a2e0db" providerId="LiveId" clId="{352B65A4-E3D4-44DA-830C-567D8C9DC900}" dt="2026-08-18T11:01:19.966" v="9" actId="20577"/>
          <ac:spMkLst>
            <pc:docMk/>
            <pc:sldMk cId="0" sldId="291"/>
            <ac:spMk id="8" creationId="{00000000-0000-0000-0000-000000000000}"/>
          </ac:spMkLst>
        </pc:spChg>
        <pc:picChg chg="add del mod">
          <ac:chgData name="MOODAVATH VISHNU VARDHAN" userId="ca35075604a2e0db" providerId="LiveId" clId="{352B65A4-E3D4-44DA-830C-567D8C9DC900}" dt="2026-08-18T11:01:17.765" v="7" actId="22"/>
          <ac:picMkLst>
            <pc:docMk/>
            <pc:sldMk cId="0" sldId="291"/>
            <ac:picMk id="3" creationId="{DEF658DA-AE8B-44F0-F515-53CFB4165E1D}"/>
          </ac:picMkLst>
        </pc:picChg>
        <pc:picChg chg="add del">
          <ac:chgData name="MOODAVATH VISHNU VARDHAN" userId="ca35075604a2e0db" providerId="LiveId" clId="{352B65A4-E3D4-44DA-830C-567D8C9DC900}" dt="2026-08-18T11:01:25.007" v="11" actId="22"/>
          <ac:picMkLst>
            <pc:docMk/>
            <pc:sldMk cId="0" sldId="291"/>
            <ac:picMk id="7" creationId="{736812E8-AEC1-5BDC-7089-0D378EDF72EB}"/>
          </ac:picMkLst>
        </pc:picChg>
        <pc:picChg chg="add mod modCrop">
          <ac:chgData name="MOODAVATH VISHNU VARDHAN" userId="ca35075604a2e0db" providerId="LiveId" clId="{352B65A4-E3D4-44DA-830C-567D8C9DC900}" dt="2026-08-18T11:03:25.929" v="35" actId="1076"/>
          <ac:picMkLst>
            <pc:docMk/>
            <pc:sldMk cId="0" sldId="291"/>
            <ac:picMk id="9" creationId="{D2002BB7-3D67-663C-B4D9-5375074A7437}"/>
          </ac:picMkLst>
        </pc:picChg>
        <pc:picChg chg="del">
          <ac:chgData name="MOODAVATH VISHNU VARDHAN" userId="ca35075604a2e0db" providerId="LiveId" clId="{352B65A4-E3D4-44DA-830C-567D8C9DC900}" dt="2026-08-18T11:03:23.994" v="34" actId="478"/>
          <ac:picMkLst>
            <pc:docMk/>
            <pc:sldMk cId="0" sldId="291"/>
            <ac:picMk id="1026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47.600" v="43" actId="22"/>
        <pc:sldMkLst>
          <pc:docMk/>
          <pc:sldMk cId="3753387913" sldId="293"/>
        </pc:sldMkLst>
        <pc:picChg chg="add">
          <ac:chgData name="MOODAVATH VISHNU VARDHAN" userId="ca35075604a2e0db" providerId="LiveId" clId="{352B65A4-E3D4-44DA-830C-567D8C9DC900}" dt="2026-08-18T11:03:47.600" v="43" actId="22"/>
          <ac:picMkLst>
            <pc:docMk/>
            <pc:sldMk cId="3753387913" sldId="293"/>
            <ac:picMk id="3" creationId="{C7D349F8-7D57-0786-C64C-4BB88F9DB6F7}"/>
          </ac:picMkLst>
        </pc:picChg>
        <pc:picChg chg="del">
          <ac:chgData name="MOODAVATH VISHNU VARDHAN" userId="ca35075604a2e0db" providerId="LiveId" clId="{352B65A4-E3D4-44DA-830C-567D8C9DC900}" dt="2026-08-18T11:03:47.062" v="42" actId="478"/>
          <ac:picMkLst>
            <pc:docMk/>
            <pc:sldMk cId="3753387913" sldId="293"/>
            <ac:picMk id="9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0.938" v="45" actId="22"/>
        <pc:sldMkLst>
          <pc:docMk/>
          <pc:sldMk cId="2997144140" sldId="294"/>
        </pc:sldMkLst>
        <pc:picChg chg="add">
          <ac:chgData name="MOODAVATH VISHNU VARDHAN" userId="ca35075604a2e0db" providerId="LiveId" clId="{352B65A4-E3D4-44DA-830C-567D8C9DC900}" dt="2026-08-18T11:03:50.938" v="45" actId="22"/>
          <ac:picMkLst>
            <pc:docMk/>
            <pc:sldMk cId="2997144140" sldId="294"/>
            <ac:picMk id="3" creationId="{DB39D37A-D964-AA7B-ED30-69ECE199A122}"/>
          </ac:picMkLst>
        </pc:picChg>
        <pc:picChg chg="del">
          <ac:chgData name="MOODAVATH VISHNU VARDHAN" userId="ca35075604a2e0db" providerId="LiveId" clId="{352B65A4-E3D4-44DA-830C-567D8C9DC900}" dt="2026-08-18T11:03:50.464" v="44" actId="478"/>
          <ac:picMkLst>
            <pc:docMk/>
            <pc:sldMk cId="2997144140" sldId="294"/>
            <ac:picMk id="9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5.113" v="47" actId="22"/>
        <pc:sldMkLst>
          <pc:docMk/>
          <pc:sldMk cId="3916788613" sldId="296"/>
        </pc:sldMkLst>
        <pc:picChg chg="add">
          <ac:chgData name="MOODAVATH VISHNU VARDHAN" userId="ca35075604a2e0db" providerId="LiveId" clId="{352B65A4-E3D4-44DA-830C-567D8C9DC900}" dt="2026-08-18T11:03:55.113" v="47" actId="22"/>
          <ac:picMkLst>
            <pc:docMk/>
            <pc:sldMk cId="3916788613" sldId="296"/>
            <ac:picMk id="3" creationId="{DFB27F9E-988F-6987-EF9A-D6711B4CB86A}"/>
          </ac:picMkLst>
        </pc:picChg>
        <pc:picChg chg="del">
          <ac:chgData name="MOODAVATH VISHNU VARDHAN" userId="ca35075604a2e0db" providerId="LiveId" clId="{352B65A4-E3D4-44DA-830C-567D8C9DC900}" dt="2026-08-18T11:03:54.450" v="46" actId="478"/>
          <ac:picMkLst>
            <pc:docMk/>
            <pc:sldMk cId="3916788613" sldId="296"/>
            <ac:picMk id="11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9.101" v="49" actId="22"/>
        <pc:sldMkLst>
          <pc:docMk/>
          <pc:sldMk cId="1588084416" sldId="297"/>
        </pc:sldMkLst>
        <pc:picChg chg="add">
          <ac:chgData name="MOODAVATH VISHNU VARDHAN" userId="ca35075604a2e0db" providerId="LiveId" clId="{352B65A4-E3D4-44DA-830C-567D8C9DC900}" dt="2026-08-18T11:03:59.101" v="49" actId="22"/>
          <ac:picMkLst>
            <pc:docMk/>
            <pc:sldMk cId="1588084416" sldId="297"/>
            <ac:picMk id="8" creationId="{46C45999-9CAA-5FD9-2841-7B7A07C937E6}"/>
          </ac:picMkLst>
        </pc:picChg>
        <pc:picChg chg="del">
          <ac:chgData name="MOODAVATH VISHNU VARDHAN" userId="ca35075604a2e0db" providerId="LiveId" clId="{352B65A4-E3D4-44DA-830C-567D8C9DC900}" dt="2026-08-18T11:03:58.657" v="48" actId="478"/>
          <ac:picMkLst>
            <pc:docMk/>
            <pc:sldMk cId="1588084416" sldId="297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ID – 26015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Title – Application of Geospatial Techniques for visualization and analysis to interpret Geo-Coded Images to enhance watershed Development Outcomes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Theme – Agriculture, FoodTech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Team ID – &lt;your team ID&gt;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Team Name (Registered on portal) – &lt;your team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002BB7-3D67-663C-B4D9-5375074A7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7607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070C0"/>
                </a:solidFill>
                <a:latin typeface="Calibri"/>
              </a:rPr>
              <a:t>PRAMAAN  •  प्रमाण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66666"/>
                </a:solidFill>
                <a:latin typeface="Calibri"/>
              </a:rPr>
              <a:t>Turning geo-tagged watershed photographs into verifiable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93F4F-823A-8D61-D1B5-83DDE7E4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12648" y="1188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12648" y="15727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PRAMAAN — an evidence-reconciliation layer over DoLR’s existing SRISHTI / DRISHTI geotag pipeline. Every field photograph becomes a claim the satellite record can test.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2587752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825496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800600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38344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7013448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7251192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OFFICER DECIDES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9226296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9464040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SIGNED RECORD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12648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PHOTO  0.15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816351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1E6B52"/>
                </a:solidFill>
                <a:latin typeface="Calibri"/>
              </a:rPr>
              <a:t>TERRAIN  0.25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5020055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0070C0"/>
                </a:solidFill>
                <a:latin typeface="Calibri"/>
              </a:rPr>
              <a:t>SATELLITE 30 m  0.25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223759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0070C0"/>
                </a:solidFill>
                <a:latin typeface="Calibri"/>
              </a:rPr>
              <a:t>TEMPORAL + CONTROLS  0.25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9427463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RAINFALL CONTEXT  0.10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12648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758952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58952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Each DRISHTI geotag — lat/lon, GPS accuracy, orientation, timestamp, activity, status — becomes a structured, testable claim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Reconciled against 5 independent evidence families: photo AI, terrain from DEM, satellite indices at 30 m, temporal trend, rainfall context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Output: a verdict on a published L0–L4 evidence ladder, with calibrated confidence and a mandatory dissent panel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Officer accepts / edits / rejects; signed into an append-only, hash-chained ledger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Deliverable: an Evidence Pack PDF carrying every scene ID, model version and weight used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334255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4480559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480559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Today a geotag is moderated by eye — accept or reject. That verifies a photograph, not an outcome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1,24,830 water-harvesting structures under WDC-PMKSY 2.0 cannot be eyeballed at scale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Implements the WDC-PMKSY 2.0 written mandate: NDVI/NDWI change detection, and cross-verification of satellite images with ground interventions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Converts ~1,200 works per district into ~40 that need a human decision, each with a documented reason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Adds one step to the existing workflow — replaces no government system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55863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8202167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8202167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Matched-control differencing per structure — 5–12 similar un-treated sites in the same sub-watershed, so we measure the intervention, not the monsoon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Terrain plausibility screen — a check dam claimed off any drainage line is flagged deterministically, before any AI runs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Detectability gate — the system refuses to judge structures smaller than one 30 m pixel and escalates to a cluster claim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Causal claims are unreachable in code; “requires physical verification” is the strongest language it can emit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Every officer correction becomes labelled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39DED-3C6F-44EC-5BA1-91463912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627632"/>
            <a:ext cx="4206240" cy="455371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773936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BACKEND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Python 3.11 · FastAPI · Celery · Redis · Docker Compose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2532888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GEOSPATIAL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PostgreSQL + PostGIS · GDAL · rasterio · GeoPandas · Shapely · PyProj · WhiteboxTools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3291840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AI / CV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PyTorch · SigLIP-2 zero-shot (no labelled corpus exists) · OpenCV · Prithvi-EO-2.0 30 m foundation model as the research path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58952" y="4050791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FRONTEND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React · TypeScript · MapLibre GL · TiTiler for COG tiles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58952" y="4809744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DATA SOURCES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NASA HLS 30 m (STAC) · Copernicus Sentinel-2 (STAC) · NRSC Bhoonidhi API (JWT + STAC) · Bhuvan OGC WMS · JRC Global Surface Water · CartoDEM · SLUSI watershed atlas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8952" y="5568696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HARDWARE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One 8-core VM. No GPU required on the core path. ₹0 in data and licence cost.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74920" y="11887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Methodology and process for implementation (Flow Charts / Images / working prototype)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74920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080760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81344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187183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287768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93608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394192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RECONCILE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400032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500616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ADJUDICATE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0506456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10607040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pic>
        <p:nvPicPr>
          <p:cNvPr id="17430" name="Picture 17429" descr="_fig1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6583680" cy="370332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5074920" y="5888736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 i="1">
                <a:solidFill>
                  <a:srgbClr val="666666"/>
                </a:solidFill>
                <a:latin typeface="Calibri"/>
              </a:rPr>
              <a:t>Runtime architecture. The reconciliation engine is a pure function — an evidence bundle in, a verdict out — so any verdict is reproducible from its stored lineage.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349F8-7D57-0786-C64C-4BB88F9DB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Every core data source is free, open and programmatic — endpoints verified, not assumed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NRSC Bhoonidhi exposes a documented JWT + STAC API; data coarser than 5 m is open under Indian Space Policy 2023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₹0 in data and licence cost; entire stack is open-source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Runs on a single 8-core VM with no GPU on the core path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Built to NRSC’s published DRISHTI field schema, so production integration is a driver swap, not a rewrite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Complete workflow demonstrable offline from a local cache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34255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34255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4480559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Many structures are smaller than one 30 m pixel — farm ponds, gully plugs, individual trenches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Monsoon cloud cover can destroy an entire kharif observation window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EXIF GPS is often stripped by messaging apps; coordinates may be typed manually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Seasonality and rainfall can be mistaken for genuine intervention impact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A false negative could unfairly implicate a beneficiary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No public SRISHTI / DRISHTI API could be found during research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055863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55863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8202167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Detectability gate compares footprint to sensor resolution first, then escalates to a cluster claim — never a false negative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Rabi and summer windows carry the analysis; cloud is scored per area of interest, not per scene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Ranked provenance chain (EXIF → sidecar → CSV → manual pin) plus a deterministic terrain plausibility screen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Matched controls in the same sub-watershed, same-season comparison, construction window excluded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Verdicts stay provisional until a named officer signs; wording is locked to “requires physical verification”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Imagery and geotag sources sit behind driver interfaces — one class to swap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9D37A-D964-AA7B-ED30-69ECE199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92224"/>
            <a:ext cx="5486400" cy="184708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938528"/>
            <a:ext cx="519379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WCDC Project Manager — ~1,200 works per district reduce to ~40 needing a decision each month, each with a documented reason for the field visit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SLNA monitoring &amp; evaluation — a standing, reproducible evidence pipeline replaces hand-built one-off GIS analyses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DoLR — every aggregate number traces to a signed adjudication, making progress reporting audit-defensible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Field WDT — fewer wasted verification journeys; feedback on capture quality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2648" y="389534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Calibri"/>
              </a:rPr>
              <a:t>TARGETING SCARCE VERIFICATION EFFORT — ONE DISTRICT, ONE MONTH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2648" y="418795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Works in one district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542032" y="4206240"/>
            <a:ext cx="2926080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532120" y="4187952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1,200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2648" y="4608576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Assessable at 30 m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542032" y="4626864"/>
            <a:ext cx="2170176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776216" y="460857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890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2648" y="5029200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Need a human decision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542032" y="5047488"/>
            <a:ext cx="975360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3581400" y="50292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400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648" y="54498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Field visits ordered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542032" y="5468112"/>
            <a:ext cx="146304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2752344" y="544982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60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Benefits of the solution (social, economic, environmental, etc.)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0" y="1792224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6547104" y="1920240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1E6B52"/>
                </a:solidFill>
                <a:latin typeface="Calibri"/>
              </a:rPr>
              <a:t>ECONOMIC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547104" y="2157984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Targets a scarce verification budget inside a ₹8,134 crore programme covering 49.5 lakh hectares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₹0 data and licence cost — marginal cost per extra structure is CPU seconds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547104" y="2889504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547104" y="3127248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Accountability without accusation — the system never says fraud or false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Strongest wording it can emit is “requires physical verification”; a named officer makes the finding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547104" y="3858768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1E6B52"/>
                </a:solidFill>
                <a:latin typeface="Calibri"/>
              </a:rPr>
              <a:t>ENVIRONMENTAL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547104" y="4096512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Earlier detection of non-performing soil and water conservation works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Faster remedial action on degraded land, water retention and vegetation cover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547104" y="4828032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B06612"/>
                </a:solidFill>
                <a:latin typeface="Calibri"/>
              </a:rPr>
              <a:t>INSTITUTIONAL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547104" y="5065776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An expert-labelled dataset of Indian watershed field evidence grows from routine use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Owned by the department, at no additional cost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0" y="581558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 i="1">
                <a:solidFill>
                  <a:srgbClr val="666666"/>
                </a:solidFill>
                <a:latin typeface="Calibri"/>
              </a:rPr>
              <a:t>Watershed development is already proven: mean benefit–cost ≈ 2, IRR 27.4%, cropping intensity +35.5% (ICRISAT, 636 Indian micro-watersheds). The gap is knowing which structures work.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27F9E-988F-6987-EF9A-D6711B4C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55648"/>
            <a:ext cx="5349240" cy="4425696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77240" y="1901952"/>
            <a:ext cx="5020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GOVERNMENT OF INDIA — PROGRAMME &amp; PLATFORM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2231136"/>
            <a:ext cx="50200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WDC-PMKSY 2.0 portal and national dashboard — wdcpmksy.dolr.gov.in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Guidelines for New Generation Watershed Development Projects (WDC-PMKSY 2.0), DoLR — mandates NDVI/NDWI change detection and cross-verification of satellite images with ground interventions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National Technical Guidelines for Improved Watershed Management, NRAA, Aug 2025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NRSC SRISHTI–DRISHTI User Manual and DRISHTI v2.3 Manual — bhuvan-app1.nrsc.gov.in/iwmp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Bhuvan Watershed Development Component 2.0 — bhuvan-app1.nrsc.gov.in/wdc2.0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MoRD press release, DoLR–NRSC MoU, 18 Oct 2023 — SRISHTI 2.0 and DRISHTI 2.0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PIB: one crore MGNREGA assets geotagged (PRID 1488368)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27064" y="1755648"/>
            <a:ext cx="5349240" cy="4425696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391655" y="1901952"/>
            <a:ext cx="5020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DATA SOURCES &amp; SCIENTIFIC LITERATURE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91655" y="2231136"/>
            <a:ext cx="50200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Bhoonidhi API Specification, NRSC — bhoonidhi.nrsc.gov.in/bhoonidhi-api (JWT + STAC)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NASA Harmonized Landsat Sentinel-2 (HLS) 30 m v2.0 — LP DAAC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Copernicus Data Space Ecosystem STAC catalogue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JRC Global Surface Water v1.4 (Pekel et al.) — 30 m water history, 1984–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SLUSI Digital Watershed Atlas of India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Prithvi-EO-2.0: A Versatile Multi-Temporal Foundation Model for Earth Observation — arXiv:2412.02732 (pretrained on 4.2 M HLS samples at 30 m)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Assessing impacts of watershed interventions using ground data and remote sensing, Ethiopia — Springer, doi 10.1007/s13762-021-03192-7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Impact of Watershed Program and Conditions for Success: A Meta-Analysis — ICRISAT, 636 micro-watersheds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Small water bodies mapped from Sentinel-2 MSI — Int. J. Remote Sensing 41(20)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MOODAVATH VISHNU VARDHAN</cp:lastModifiedBy>
  <cp:revision>147</cp:revision>
  <dcterms:created xsi:type="dcterms:W3CDTF">2013-12-12T18:46:50Z</dcterms:created>
  <dcterms:modified xsi:type="dcterms:W3CDTF">2026-08-18T11:04:08Z</dcterms:modified>
  <cp:category/>
</cp:coreProperties>
</file>